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82" r:id="rId4"/>
    <p:sldId id="285" r:id="rId5"/>
    <p:sldId id="283" r:id="rId6"/>
    <p:sldId id="287" r:id="rId7"/>
    <p:sldId id="284" r:id="rId8"/>
    <p:sldId id="286" r:id="rId9"/>
    <p:sldId id="289" r:id="rId10"/>
    <p:sldId id="291" r:id="rId11"/>
    <p:sldId id="303" r:id="rId12"/>
    <p:sldId id="304" r:id="rId13"/>
    <p:sldId id="295" r:id="rId14"/>
    <p:sldId id="293" r:id="rId15"/>
    <p:sldId id="302" r:id="rId16"/>
    <p:sldId id="294" r:id="rId17"/>
    <p:sldId id="296" r:id="rId18"/>
    <p:sldId id="297" r:id="rId19"/>
    <p:sldId id="298" r:id="rId20"/>
    <p:sldId id="300" r:id="rId21"/>
    <p:sldId id="299" r:id="rId22"/>
    <p:sldId id="30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LSI-18" initials="V" lastIdx="1" clrIdx="0">
    <p:extLst>
      <p:ext uri="{19B8F6BF-5375-455C-9EA6-DF929625EA0E}">
        <p15:presenceInfo xmlns:p15="http://schemas.microsoft.com/office/powerpoint/2012/main" userId="VLSI-18" providerId="None"/>
      </p:ext>
    </p:extLst>
  </p:cmAuthor>
  <p:cmAuthor id="2" name="SAI RAMYA BADUGU" initials="SB" lastIdx="3" clrIdx="1">
    <p:extLst>
      <p:ext uri="{19B8F6BF-5375-455C-9EA6-DF929625EA0E}">
        <p15:presenceInfo xmlns:p15="http://schemas.microsoft.com/office/powerpoint/2012/main" userId="7196b372baa9e6b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RAMYA BADUGU" userId="7196b372baa9e6b5" providerId="LiveId" clId="{EC6B6B5E-1158-4302-AC5B-814E42C156E8}"/>
    <pc:docChg chg="modSld">
      <pc:chgData name="SAI RAMYA BADUGU" userId="7196b372baa9e6b5" providerId="LiveId" clId="{EC6B6B5E-1158-4302-AC5B-814E42C156E8}" dt="2024-05-06T11:49:33.375" v="0" actId="20577"/>
      <pc:docMkLst>
        <pc:docMk/>
      </pc:docMkLst>
      <pc:sldChg chg="modSp mod">
        <pc:chgData name="SAI RAMYA BADUGU" userId="7196b372baa9e6b5" providerId="LiveId" clId="{EC6B6B5E-1158-4302-AC5B-814E42C156E8}" dt="2024-05-06T11:49:33.375" v="0" actId="20577"/>
        <pc:sldMkLst>
          <pc:docMk/>
          <pc:sldMk cId="4144806604" sldId="256"/>
        </pc:sldMkLst>
        <pc:spChg chg="mod">
          <ac:chgData name="SAI RAMYA BADUGU" userId="7196b372baa9e6b5" providerId="LiveId" clId="{EC6B6B5E-1158-4302-AC5B-814E42C156E8}" dt="2024-05-06T11:49:33.375" v="0" actId="20577"/>
          <ac:spMkLst>
            <pc:docMk/>
            <pc:sldMk cId="4144806604" sldId="256"/>
            <ac:spMk id="8" creationId="{1FE4BEE5-7B08-BB50-D2D3-D28B7852402D}"/>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2" dt="2024-03-12T00:52:36.079" idx="3">
    <p:pos x="10" y="10"/>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4B58D-76CC-EFE8-92DA-2A5ABFD584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2AF030-EF80-944D-C9AB-08B2A8728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B691998-21EB-3DB5-D846-05B560A0D815}"/>
              </a:ext>
            </a:extLst>
          </p:cNvPr>
          <p:cNvSpPr>
            <a:spLocks noGrp="1"/>
          </p:cNvSpPr>
          <p:nvPr>
            <p:ph type="dt" sz="half" idx="10"/>
          </p:nvPr>
        </p:nvSpPr>
        <p:spPr/>
        <p:txBody>
          <a:bodyPr/>
          <a:lstStyle/>
          <a:p>
            <a:fld id="{1A860B80-2F29-4FED-AD1F-3D19C3753969}" type="datetimeFigureOut">
              <a:rPr lang="en-IN" smtClean="0"/>
              <a:t>06-05-2024</a:t>
            </a:fld>
            <a:endParaRPr lang="en-IN" dirty="0"/>
          </a:p>
        </p:txBody>
      </p:sp>
      <p:sp>
        <p:nvSpPr>
          <p:cNvPr id="5" name="Footer Placeholder 4">
            <a:extLst>
              <a:ext uri="{FF2B5EF4-FFF2-40B4-BE49-F238E27FC236}">
                <a16:creationId xmlns:a16="http://schemas.microsoft.com/office/drawing/2014/main" id="{73405575-CBF6-A10C-D79A-9FE731C0A59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5F63B55-FD33-938F-D8C4-8C5CE88E6C91}"/>
              </a:ext>
            </a:extLst>
          </p:cNvPr>
          <p:cNvSpPr>
            <a:spLocks noGrp="1"/>
          </p:cNvSpPr>
          <p:nvPr>
            <p:ph type="sldNum" sz="quarter" idx="12"/>
          </p:nvPr>
        </p:nvSpPr>
        <p:spPr/>
        <p:txBody>
          <a:bodyPr/>
          <a:lstStyle/>
          <a:p>
            <a:fld id="{E50CDCA1-23DD-4307-99C6-091D5FC2D85E}" type="slidenum">
              <a:rPr lang="en-IN" smtClean="0"/>
              <a:t>‹#›</a:t>
            </a:fld>
            <a:endParaRPr lang="en-IN" dirty="0"/>
          </a:p>
        </p:txBody>
      </p:sp>
    </p:spTree>
    <p:extLst>
      <p:ext uri="{BB962C8B-B14F-4D97-AF65-F5344CB8AC3E}">
        <p14:creationId xmlns:p14="http://schemas.microsoft.com/office/powerpoint/2010/main" val="349196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C1936-EFA1-55DD-739D-582892F336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B780F0-B1EA-7926-D5D3-500450E0DE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A28143-C596-B605-5490-A95FADAE9DC7}"/>
              </a:ext>
            </a:extLst>
          </p:cNvPr>
          <p:cNvSpPr>
            <a:spLocks noGrp="1"/>
          </p:cNvSpPr>
          <p:nvPr>
            <p:ph type="dt" sz="half" idx="10"/>
          </p:nvPr>
        </p:nvSpPr>
        <p:spPr/>
        <p:txBody>
          <a:bodyPr/>
          <a:lstStyle/>
          <a:p>
            <a:fld id="{1A860B80-2F29-4FED-AD1F-3D19C3753969}" type="datetimeFigureOut">
              <a:rPr lang="en-IN" smtClean="0"/>
              <a:t>06-05-2024</a:t>
            </a:fld>
            <a:endParaRPr lang="en-IN" dirty="0"/>
          </a:p>
        </p:txBody>
      </p:sp>
      <p:sp>
        <p:nvSpPr>
          <p:cNvPr id="5" name="Footer Placeholder 4">
            <a:extLst>
              <a:ext uri="{FF2B5EF4-FFF2-40B4-BE49-F238E27FC236}">
                <a16:creationId xmlns:a16="http://schemas.microsoft.com/office/drawing/2014/main" id="{43924720-7BA3-DC27-616B-DDB56422270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235C549-AB58-6306-E419-EF505B2E4C21}"/>
              </a:ext>
            </a:extLst>
          </p:cNvPr>
          <p:cNvSpPr>
            <a:spLocks noGrp="1"/>
          </p:cNvSpPr>
          <p:nvPr>
            <p:ph type="sldNum" sz="quarter" idx="12"/>
          </p:nvPr>
        </p:nvSpPr>
        <p:spPr/>
        <p:txBody>
          <a:bodyPr/>
          <a:lstStyle/>
          <a:p>
            <a:fld id="{E50CDCA1-23DD-4307-99C6-091D5FC2D85E}" type="slidenum">
              <a:rPr lang="en-IN" smtClean="0"/>
              <a:t>‹#›</a:t>
            </a:fld>
            <a:endParaRPr lang="en-IN" dirty="0"/>
          </a:p>
        </p:txBody>
      </p:sp>
    </p:spTree>
    <p:extLst>
      <p:ext uri="{BB962C8B-B14F-4D97-AF65-F5344CB8AC3E}">
        <p14:creationId xmlns:p14="http://schemas.microsoft.com/office/powerpoint/2010/main" val="56062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0A1BD-C142-F628-C4F5-8021519C10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FBFDE6-D251-E9F5-FC30-2F9B46D5DB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13292-E254-6A3A-C644-5B0339F93EF3}"/>
              </a:ext>
            </a:extLst>
          </p:cNvPr>
          <p:cNvSpPr>
            <a:spLocks noGrp="1"/>
          </p:cNvSpPr>
          <p:nvPr>
            <p:ph type="dt" sz="half" idx="10"/>
          </p:nvPr>
        </p:nvSpPr>
        <p:spPr/>
        <p:txBody>
          <a:bodyPr/>
          <a:lstStyle/>
          <a:p>
            <a:fld id="{1A860B80-2F29-4FED-AD1F-3D19C3753969}" type="datetimeFigureOut">
              <a:rPr lang="en-IN" smtClean="0"/>
              <a:t>06-05-2024</a:t>
            </a:fld>
            <a:endParaRPr lang="en-IN" dirty="0"/>
          </a:p>
        </p:txBody>
      </p:sp>
      <p:sp>
        <p:nvSpPr>
          <p:cNvPr id="5" name="Footer Placeholder 4">
            <a:extLst>
              <a:ext uri="{FF2B5EF4-FFF2-40B4-BE49-F238E27FC236}">
                <a16:creationId xmlns:a16="http://schemas.microsoft.com/office/drawing/2014/main" id="{A05C8D36-1F9D-4281-9315-A75114D0FF2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1355948-6D81-6A1B-9A5D-DE2D84117111}"/>
              </a:ext>
            </a:extLst>
          </p:cNvPr>
          <p:cNvSpPr>
            <a:spLocks noGrp="1"/>
          </p:cNvSpPr>
          <p:nvPr>
            <p:ph type="sldNum" sz="quarter" idx="12"/>
          </p:nvPr>
        </p:nvSpPr>
        <p:spPr/>
        <p:txBody>
          <a:bodyPr/>
          <a:lstStyle/>
          <a:p>
            <a:fld id="{E50CDCA1-23DD-4307-99C6-091D5FC2D85E}" type="slidenum">
              <a:rPr lang="en-IN" smtClean="0"/>
              <a:t>‹#›</a:t>
            </a:fld>
            <a:endParaRPr lang="en-IN" dirty="0"/>
          </a:p>
        </p:txBody>
      </p:sp>
    </p:spTree>
    <p:extLst>
      <p:ext uri="{BB962C8B-B14F-4D97-AF65-F5344CB8AC3E}">
        <p14:creationId xmlns:p14="http://schemas.microsoft.com/office/powerpoint/2010/main" val="1299071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C033-2BD9-76CB-7163-AC51B07937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73F907-8BF6-11CA-4453-F97E76DAC4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8A488D-9C92-05B6-100C-6D06B4301F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C6E68EE-C983-F911-072A-531EDB9C0974}"/>
              </a:ext>
            </a:extLst>
          </p:cNvPr>
          <p:cNvSpPr>
            <a:spLocks noGrp="1"/>
          </p:cNvSpPr>
          <p:nvPr>
            <p:ph type="dt" sz="half" idx="10"/>
          </p:nvPr>
        </p:nvSpPr>
        <p:spPr/>
        <p:txBody>
          <a:bodyPr/>
          <a:lstStyle/>
          <a:p>
            <a:fld id="{1A860B80-2F29-4FED-AD1F-3D19C3753969}" type="datetimeFigureOut">
              <a:rPr lang="en-IN" smtClean="0"/>
              <a:t>06-05-2024</a:t>
            </a:fld>
            <a:endParaRPr lang="en-IN" dirty="0"/>
          </a:p>
        </p:txBody>
      </p:sp>
      <p:sp>
        <p:nvSpPr>
          <p:cNvPr id="6" name="Footer Placeholder 5">
            <a:extLst>
              <a:ext uri="{FF2B5EF4-FFF2-40B4-BE49-F238E27FC236}">
                <a16:creationId xmlns:a16="http://schemas.microsoft.com/office/drawing/2014/main" id="{890D40C4-4653-3C07-C7FC-76E2BC3B9E3B}"/>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5167339-94D4-0E2D-AD09-AF48012395C4}"/>
              </a:ext>
            </a:extLst>
          </p:cNvPr>
          <p:cNvSpPr>
            <a:spLocks noGrp="1"/>
          </p:cNvSpPr>
          <p:nvPr>
            <p:ph type="sldNum" sz="quarter" idx="12"/>
          </p:nvPr>
        </p:nvSpPr>
        <p:spPr/>
        <p:txBody>
          <a:bodyPr/>
          <a:lstStyle/>
          <a:p>
            <a:fld id="{E50CDCA1-23DD-4307-99C6-091D5FC2D85E}" type="slidenum">
              <a:rPr lang="en-IN" smtClean="0"/>
              <a:t>‹#›</a:t>
            </a:fld>
            <a:endParaRPr lang="en-IN" dirty="0"/>
          </a:p>
        </p:txBody>
      </p:sp>
    </p:spTree>
    <p:extLst>
      <p:ext uri="{BB962C8B-B14F-4D97-AF65-F5344CB8AC3E}">
        <p14:creationId xmlns:p14="http://schemas.microsoft.com/office/powerpoint/2010/main" val="2167914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F5E09-D1B2-66FA-EC8C-1689582BFF1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BE5887-A0E7-1B3C-ABDA-869FA48662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A8CB64-FFDE-9B78-40FF-2FC19C0D16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1A37F6-B90F-CEB1-89A9-56BEF1CCC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B5CCF6-7019-F6BD-4D13-5E3A209591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E02FD-A3DF-C0F4-BA16-91791A1DDEE4}"/>
              </a:ext>
            </a:extLst>
          </p:cNvPr>
          <p:cNvSpPr>
            <a:spLocks noGrp="1"/>
          </p:cNvSpPr>
          <p:nvPr>
            <p:ph type="dt" sz="half" idx="10"/>
          </p:nvPr>
        </p:nvSpPr>
        <p:spPr/>
        <p:txBody>
          <a:bodyPr/>
          <a:lstStyle/>
          <a:p>
            <a:fld id="{1A860B80-2F29-4FED-AD1F-3D19C3753969}" type="datetimeFigureOut">
              <a:rPr lang="en-IN" smtClean="0"/>
              <a:t>06-05-2024</a:t>
            </a:fld>
            <a:endParaRPr lang="en-IN" dirty="0"/>
          </a:p>
        </p:txBody>
      </p:sp>
      <p:sp>
        <p:nvSpPr>
          <p:cNvPr id="8" name="Footer Placeholder 7">
            <a:extLst>
              <a:ext uri="{FF2B5EF4-FFF2-40B4-BE49-F238E27FC236}">
                <a16:creationId xmlns:a16="http://schemas.microsoft.com/office/drawing/2014/main" id="{9220605F-8ECE-01D2-CF7B-B42DA9E5E75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40977536-F9DC-BD50-947D-27ACEF964E3D}"/>
              </a:ext>
            </a:extLst>
          </p:cNvPr>
          <p:cNvSpPr>
            <a:spLocks noGrp="1"/>
          </p:cNvSpPr>
          <p:nvPr>
            <p:ph type="sldNum" sz="quarter" idx="12"/>
          </p:nvPr>
        </p:nvSpPr>
        <p:spPr/>
        <p:txBody>
          <a:bodyPr/>
          <a:lstStyle/>
          <a:p>
            <a:fld id="{E50CDCA1-23DD-4307-99C6-091D5FC2D85E}" type="slidenum">
              <a:rPr lang="en-IN" smtClean="0"/>
              <a:t>‹#›</a:t>
            </a:fld>
            <a:endParaRPr lang="en-IN" dirty="0"/>
          </a:p>
        </p:txBody>
      </p:sp>
    </p:spTree>
    <p:extLst>
      <p:ext uri="{BB962C8B-B14F-4D97-AF65-F5344CB8AC3E}">
        <p14:creationId xmlns:p14="http://schemas.microsoft.com/office/powerpoint/2010/main" val="1421410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1EED7-2F10-1345-2ACF-01ADDB16B9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DE4DCA-C4DB-5BCD-100C-66E4D60C6E43}"/>
              </a:ext>
            </a:extLst>
          </p:cNvPr>
          <p:cNvSpPr>
            <a:spLocks noGrp="1"/>
          </p:cNvSpPr>
          <p:nvPr>
            <p:ph type="dt" sz="half" idx="10"/>
          </p:nvPr>
        </p:nvSpPr>
        <p:spPr/>
        <p:txBody>
          <a:bodyPr/>
          <a:lstStyle/>
          <a:p>
            <a:fld id="{1A860B80-2F29-4FED-AD1F-3D19C3753969}" type="datetimeFigureOut">
              <a:rPr lang="en-IN" smtClean="0"/>
              <a:t>06-05-2024</a:t>
            </a:fld>
            <a:endParaRPr lang="en-IN" dirty="0"/>
          </a:p>
        </p:txBody>
      </p:sp>
      <p:sp>
        <p:nvSpPr>
          <p:cNvPr id="4" name="Footer Placeholder 3">
            <a:extLst>
              <a:ext uri="{FF2B5EF4-FFF2-40B4-BE49-F238E27FC236}">
                <a16:creationId xmlns:a16="http://schemas.microsoft.com/office/drawing/2014/main" id="{7EE72E24-55BF-6060-57E4-D3873B9C1C7B}"/>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53585962-8CC6-42F7-DB4B-2B7681906148}"/>
              </a:ext>
            </a:extLst>
          </p:cNvPr>
          <p:cNvSpPr>
            <a:spLocks noGrp="1"/>
          </p:cNvSpPr>
          <p:nvPr>
            <p:ph type="sldNum" sz="quarter" idx="12"/>
          </p:nvPr>
        </p:nvSpPr>
        <p:spPr/>
        <p:txBody>
          <a:bodyPr/>
          <a:lstStyle/>
          <a:p>
            <a:fld id="{E50CDCA1-23DD-4307-99C6-091D5FC2D85E}" type="slidenum">
              <a:rPr lang="en-IN" smtClean="0"/>
              <a:t>‹#›</a:t>
            </a:fld>
            <a:endParaRPr lang="en-IN" dirty="0"/>
          </a:p>
        </p:txBody>
      </p:sp>
    </p:spTree>
    <p:extLst>
      <p:ext uri="{BB962C8B-B14F-4D97-AF65-F5344CB8AC3E}">
        <p14:creationId xmlns:p14="http://schemas.microsoft.com/office/powerpoint/2010/main" val="196080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94C0E0-021F-D113-F361-8A2155D93998}"/>
              </a:ext>
            </a:extLst>
          </p:cNvPr>
          <p:cNvSpPr>
            <a:spLocks noGrp="1"/>
          </p:cNvSpPr>
          <p:nvPr>
            <p:ph type="dt" sz="half" idx="10"/>
          </p:nvPr>
        </p:nvSpPr>
        <p:spPr/>
        <p:txBody>
          <a:bodyPr/>
          <a:lstStyle/>
          <a:p>
            <a:fld id="{1A860B80-2F29-4FED-AD1F-3D19C3753969}" type="datetimeFigureOut">
              <a:rPr lang="en-IN" smtClean="0"/>
              <a:t>06-05-2024</a:t>
            </a:fld>
            <a:endParaRPr lang="en-IN" dirty="0"/>
          </a:p>
        </p:txBody>
      </p:sp>
      <p:sp>
        <p:nvSpPr>
          <p:cNvPr id="3" name="Footer Placeholder 2">
            <a:extLst>
              <a:ext uri="{FF2B5EF4-FFF2-40B4-BE49-F238E27FC236}">
                <a16:creationId xmlns:a16="http://schemas.microsoft.com/office/drawing/2014/main" id="{901E248C-5C36-1B9C-FA36-A03A7097ADB1}"/>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D777CB8D-5D6A-F09B-F1D8-A849FC19EBD2}"/>
              </a:ext>
            </a:extLst>
          </p:cNvPr>
          <p:cNvSpPr>
            <a:spLocks noGrp="1"/>
          </p:cNvSpPr>
          <p:nvPr>
            <p:ph type="sldNum" sz="quarter" idx="12"/>
          </p:nvPr>
        </p:nvSpPr>
        <p:spPr/>
        <p:txBody>
          <a:bodyPr/>
          <a:lstStyle/>
          <a:p>
            <a:fld id="{E50CDCA1-23DD-4307-99C6-091D5FC2D85E}" type="slidenum">
              <a:rPr lang="en-IN" smtClean="0"/>
              <a:t>‹#›</a:t>
            </a:fld>
            <a:endParaRPr lang="en-IN" dirty="0"/>
          </a:p>
        </p:txBody>
      </p:sp>
    </p:spTree>
    <p:extLst>
      <p:ext uri="{BB962C8B-B14F-4D97-AF65-F5344CB8AC3E}">
        <p14:creationId xmlns:p14="http://schemas.microsoft.com/office/powerpoint/2010/main" val="741583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64FD3-5EEE-B0D9-90AC-80E5C86A70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8343BE-8EC3-FEB6-A75B-AA48CC5F7B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95F624E-2607-3D62-27A4-95E2A40F31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F65A35-CAC0-9E47-BA51-CBB3207FC318}"/>
              </a:ext>
            </a:extLst>
          </p:cNvPr>
          <p:cNvSpPr>
            <a:spLocks noGrp="1"/>
          </p:cNvSpPr>
          <p:nvPr>
            <p:ph type="dt" sz="half" idx="10"/>
          </p:nvPr>
        </p:nvSpPr>
        <p:spPr/>
        <p:txBody>
          <a:bodyPr/>
          <a:lstStyle/>
          <a:p>
            <a:fld id="{1A860B80-2F29-4FED-AD1F-3D19C3753969}" type="datetimeFigureOut">
              <a:rPr lang="en-IN" smtClean="0"/>
              <a:t>06-05-2024</a:t>
            </a:fld>
            <a:endParaRPr lang="en-IN" dirty="0"/>
          </a:p>
        </p:txBody>
      </p:sp>
      <p:sp>
        <p:nvSpPr>
          <p:cNvPr id="6" name="Footer Placeholder 5">
            <a:extLst>
              <a:ext uri="{FF2B5EF4-FFF2-40B4-BE49-F238E27FC236}">
                <a16:creationId xmlns:a16="http://schemas.microsoft.com/office/drawing/2014/main" id="{F9EC15CC-0E66-6967-737D-D02BB4B3F1E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EB78E933-7E6A-775D-69E3-7E70DAC904A4}"/>
              </a:ext>
            </a:extLst>
          </p:cNvPr>
          <p:cNvSpPr>
            <a:spLocks noGrp="1"/>
          </p:cNvSpPr>
          <p:nvPr>
            <p:ph type="sldNum" sz="quarter" idx="12"/>
          </p:nvPr>
        </p:nvSpPr>
        <p:spPr/>
        <p:txBody>
          <a:bodyPr/>
          <a:lstStyle/>
          <a:p>
            <a:fld id="{E50CDCA1-23DD-4307-99C6-091D5FC2D85E}" type="slidenum">
              <a:rPr lang="en-IN" smtClean="0"/>
              <a:t>‹#›</a:t>
            </a:fld>
            <a:endParaRPr lang="en-IN" dirty="0"/>
          </a:p>
        </p:txBody>
      </p:sp>
    </p:spTree>
    <p:extLst>
      <p:ext uri="{BB962C8B-B14F-4D97-AF65-F5344CB8AC3E}">
        <p14:creationId xmlns:p14="http://schemas.microsoft.com/office/powerpoint/2010/main" val="1328356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EF48E-1531-B30C-0791-36CE4F1FDE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DD371C-4C8E-661D-ED27-F9A3F4D42F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E7FB4E2C-82BD-6C98-6133-E59BA65B21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8E9FC3-9893-DF94-BC94-45234113FF42}"/>
              </a:ext>
            </a:extLst>
          </p:cNvPr>
          <p:cNvSpPr>
            <a:spLocks noGrp="1"/>
          </p:cNvSpPr>
          <p:nvPr>
            <p:ph type="dt" sz="half" idx="10"/>
          </p:nvPr>
        </p:nvSpPr>
        <p:spPr/>
        <p:txBody>
          <a:bodyPr/>
          <a:lstStyle/>
          <a:p>
            <a:fld id="{1A860B80-2F29-4FED-AD1F-3D19C3753969}" type="datetimeFigureOut">
              <a:rPr lang="en-IN" smtClean="0"/>
              <a:t>06-05-2024</a:t>
            </a:fld>
            <a:endParaRPr lang="en-IN" dirty="0"/>
          </a:p>
        </p:txBody>
      </p:sp>
      <p:sp>
        <p:nvSpPr>
          <p:cNvPr id="6" name="Footer Placeholder 5">
            <a:extLst>
              <a:ext uri="{FF2B5EF4-FFF2-40B4-BE49-F238E27FC236}">
                <a16:creationId xmlns:a16="http://schemas.microsoft.com/office/drawing/2014/main" id="{7F1CB4BC-3C8B-8A83-FBF7-FB64F06941D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E4A978FB-8A6D-04B4-6AD1-00BC4E392325}"/>
              </a:ext>
            </a:extLst>
          </p:cNvPr>
          <p:cNvSpPr>
            <a:spLocks noGrp="1"/>
          </p:cNvSpPr>
          <p:nvPr>
            <p:ph type="sldNum" sz="quarter" idx="12"/>
          </p:nvPr>
        </p:nvSpPr>
        <p:spPr/>
        <p:txBody>
          <a:bodyPr/>
          <a:lstStyle/>
          <a:p>
            <a:fld id="{E50CDCA1-23DD-4307-99C6-091D5FC2D85E}" type="slidenum">
              <a:rPr lang="en-IN" smtClean="0"/>
              <a:t>‹#›</a:t>
            </a:fld>
            <a:endParaRPr lang="en-IN" dirty="0"/>
          </a:p>
        </p:txBody>
      </p:sp>
    </p:spTree>
    <p:extLst>
      <p:ext uri="{BB962C8B-B14F-4D97-AF65-F5344CB8AC3E}">
        <p14:creationId xmlns:p14="http://schemas.microsoft.com/office/powerpoint/2010/main" val="3083492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85182-660E-A08F-33CA-B4BFAB5E6A9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CA0847-EAD1-877D-DC57-2A07172EF0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D03943-8115-9ED3-733B-4857A44521D2}"/>
              </a:ext>
            </a:extLst>
          </p:cNvPr>
          <p:cNvSpPr>
            <a:spLocks noGrp="1"/>
          </p:cNvSpPr>
          <p:nvPr>
            <p:ph type="dt" sz="half" idx="10"/>
          </p:nvPr>
        </p:nvSpPr>
        <p:spPr/>
        <p:txBody>
          <a:bodyPr/>
          <a:lstStyle/>
          <a:p>
            <a:fld id="{1A860B80-2F29-4FED-AD1F-3D19C3753969}" type="datetimeFigureOut">
              <a:rPr lang="en-IN" smtClean="0"/>
              <a:t>06-05-2024</a:t>
            </a:fld>
            <a:endParaRPr lang="en-IN" dirty="0"/>
          </a:p>
        </p:txBody>
      </p:sp>
      <p:sp>
        <p:nvSpPr>
          <p:cNvPr id="5" name="Footer Placeholder 4">
            <a:extLst>
              <a:ext uri="{FF2B5EF4-FFF2-40B4-BE49-F238E27FC236}">
                <a16:creationId xmlns:a16="http://schemas.microsoft.com/office/drawing/2014/main" id="{8EA8B461-7324-16F7-BA96-9F54E41C7DF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120ABCC-A8FD-3D84-85B3-6A7B9D78694B}"/>
              </a:ext>
            </a:extLst>
          </p:cNvPr>
          <p:cNvSpPr>
            <a:spLocks noGrp="1"/>
          </p:cNvSpPr>
          <p:nvPr>
            <p:ph type="sldNum" sz="quarter" idx="12"/>
          </p:nvPr>
        </p:nvSpPr>
        <p:spPr/>
        <p:txBody>
          <a:bodyPr/>
          <a:lstStyle/>
          <a:p>
            <a:fld id="{E50CDCA1-23DD-4307-99C6-091D5FC2D85E}" type="slidenum">
              <a:rPr lang="en-IN" smtClean="0"/>
              <a:t>‹#›</a:t>
            </a:fld>
            <a:endParaRPr lang="en-IN" dirty="0"/>
          </a:p>
        </p:txBody>
      </p:sp>
    </p:spTree>
    <p:extLst>
      <p:ext uri="{BB962C8B-B14F-4D97-AF65-F5344CB8AC3E}">
        <p14:creationId xmlns:p14="http://schemas.microsoft.com/office/powerpoint/2010/main" val="71107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C71DE1-0B8E-031D-E33B-903191884B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203B0B-3C83-F92A-FAE2-63C1953230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F70811-FC1B-4FA8-A304-A6CF56F29B28}"/>
              </a:ext>
            </a:extLst>
          </p:cNvPr>
          <p:cNvSpPr>
            <a:spLocks noGrp="1"/>
          </p:cNvSpPr>
          <p:nvPr>
            <p:ph type="dt" sz="half" idx="10"/>
          </p:nvPr>
        </p:nvSpPr>
        <p:spPr/>
        <p:txBody>
          <a:bodyPr/>
          <a:lstStyle/>
          <a:p>
            <a:fld id="{1A860B80-2F29-4FED-AD1F-3D19C3753969}" type="datetimeFigureOut">
              <a:rPr lang="en-IN" smtClean="0"/>
              <a:t>06-05-2024</a:t>
            </a:fld>
            <a:endParaRPr lang="en-IN" dirty="0"/>
          </a:p>
        </p:txBody>
      </p:sp>
      <p:sp>
        <p:nvSpPr>
          <p:cNvPr id="5" name="Footer Placeholder 4">
            <a:extLst>
              <a:ext uri="{FF2B5EF4-FFF2-40B4-BE49-F238E27FC236}">
                <a16:creationId xmlns:a16="http://schemas.microsoft.com/office/drawing/2014/main" id="{C2DAC515-CFE0-230D-58AF-360245F2EC5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50B1723-0D0E-300B-83BE-CA2AFF6401BC}"/>
              </a:ext>
            </a:extLst>
          </p:cNvPr>
          <p:cNvSpPr>
            <a:spLocks noGrp="1"/>
          </p:cNvSpPr>
          <p:nvPr>
            <p:ph type="sldNum" sz="quarter" idx="12"/>
          </p:nvPr>
        </p:nvSpPr>
        <p:spPr/>
        <p:txBody>
          <a:bodyPr/>
          <a:lstStyle/>
          <a:p>
            <a:fld id="{E50CDCA1-23DD-4307-99C6-091D5FC2D85E}" type="slidenum">
              <a:rPr lang="en-IN" smtClean="0"/>
              <a:t>‹#›</a:t>
            </a:fld>
            <a:endParaRPr lang="en-IN" dirty="0"/>
          </a:p>
        </p:txBody>
      </p:sp>
    </p:spTree>
    <p:extLst>
      <p:ext uri="{BB962C8B-B14F-4D97-AF65-F5344CB8AC3E}">
        <p14:creationId xmlns:p14="http://schemas.microsoft.com/office/powerpoint/2010/main" val="1332809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256DB9-CB7F-96B1-0A0E-A5E79183E2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2A53BE-5664-F75B-22E3-0899B978E6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1E6CCB-61AD-2DD7-C498-1D2AE3CC7B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60B80-2F29-4FED-AD1F-3D19C3753969}" type="datetimeFigureOut">
              <a:rPr lang="en-IN" smtClean="0"/>
              <a:t>06-05-2024</a:t>
            </a:fld>
            <a:endParaRPr lang="en-IN" dirty="0"/>
          </a:p>
        </p:txBody>
      </p:sp>
      <p:sp>
        <p:nvSpPr>
          <p:cNvPr id="5" name="Footer Placeholder 4">
            <a:extLst>
              <a:ext uri="{FF2B5EF4-FFF2-40B4-BE49-F238E27FC236}">
                <a16:creationId xmlns:a16="http://schemas.microsoft.com/office/drawing/2014/main" id="{4FCF5991-D6B7-B833-2C81-1BBF2BA8F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1E8784B2-0F3B-86E3-2DD1-28C3F758AE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0CDCA1-23DD-4307-99C6-091D5FC2D85E}" type="slidenum">
              <a:rPr lang="en-IN" smtClean="0"/>
              <a:t>‹#›</a:t>
            </a:fld>
            <a:endParaRPr lang="en-IN" dirty="0"/>
          </a:p>
        </p:txBody>
      </p:sp>
    </p:spTree>
    <p:extLst>
      <p:ext uri="{BB962C8B-B14F-4D97-AF65-F5344CB8AC3E}">
        <p14:creationId xmlns:p14="http://schemas.microsoft.com/office/powerpoint/2010/main" val="3951731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15C4D59-56C3-6FBC-B242-CEF180C12FEA}"/>
              </a:ext>
            </a:extLst>
          </p:cNvPr>
          <p:cNvSpPr>
            <a:spLocks noGrp="1"/>
          </p:cNvSpPr>
          <p:nvPr>
            <p:ph type="ctrTitle"/>
          </p:nvPr>
        </p:nvSpPr>
        <p:spPr>
          <a:xfrm>
            <a:off x="1775790" y="901148"/>
            <a:ext cx="8812697" cy="2018653"/>
          </a:xfrm>
        </p:spPr>
        <p:txBody>
          <a:bodyPr>
            <a:normAutofit/>
          </a:bodyPr>
          <a:lstStyle/>
          <a:p>
            <a:pPr algn="ctr"/>
            <a:r>
              <a:rPr lang="en-US" sz="2800" dirty="0">
                <a:latin typeface="Baskerville Old Face" panose="02020602080505020303" pitchFamily="18" charset="0"/>
              </a:rPr>
              <a:t>MALLA REDDY COLLEGE OF ENGINEERING</a:t>
            </a:r>
            <a:br>
              <a:rPr lang="en-US" sz="3200" dirty="0">
                <a:latin typeface="Baskerville Old Face" panose="02020602080505020303" pitchFamily="18" charset="0"/>
              </a:rPr>
            </a:br>
            <a:r>
              <a:rPr lang="en-US" sz="1600" dirty="0">
                <a:latin typeface="Arial" panose="020B0604020202020204" pitchFamily="34" charset="0"/>
                <a:cs typeface="Arial" panose="020B0604020202020204" pitchFamily="34" charset="0"/>
              </a:rPr>
              <a:t>Maisammaguda, Dhullapally ,(Post Via Hakeem Pet), Secunderabad-500014</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2000" b="1" u="sng" dirty="0">
                <a:latin typeface="Arial" panose="020B0604020202020204" pitchFamily="34" charset="0"/>
                <a:cs typeface="Arial" panose="020B0604020202020204" pitchFamily="34" charset="0"/>
              </a:rPr>
              <a:t>DEPARTMENT OF ELECTRONICS AND COMMUNICATION ENGINERING</a:t>
            </a:r>
            <a:br>
              <a:rPr lang="en-US" sz="2000" b="1" u="sng" dirty="0">
                <a:latin typeface="Arial" panose="020B0604020202020204" pitchFamily="34" charset="0"/>
                <a:cs typeface="Arial" panose="020B0604020202020204" pitchFamily="34" charset="0"/>
              </a:rPr>
            </a:br>
            <a:br>
              <a:rPr lang="en-US" sz="2000" b="1" u="sng" dirty="0">
                <a:latin typeface="Arial" panose="020B0604020202020204" pitchFamily="34" charset="0"/>
                <a:cs typeface="Arial" panose="020B0604020202020204" pitchFamily="34" charset="0"/>
              </a:rPr>
            </a:br>
            <a:endParaRPr lang="en-IN" sz="1600" u="sng" dirty="0">
              <a:latin typeface="Baskerville Old Face" panose="02020602080505020303" pitchFamily="18" charset="0"/>
            </a:endParaRPr>
          </a:p>
        </p:txBody>
      </p:sp>
      <p:pic>
        <p:nvPicPr>
          <p:cNvPr id="3" name="Picture 2">
            <a:extLst>
              <a:ext uri="{FF2B5EF4-FFF2-40B4-BE49-F238E27FC236}">
                <a16:creationId xmlns:a16="http://schemas.microsoft.com/office/drawing/2014/main" id="{16758084-4E5C-1424-7C14-1CE3DE8250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0239" y="1179399"/>
            <a:ext cx="1085198" cy="821679"/>
          </a:xfrm>
          <a:prstGeom prst="rect">
            <a:avLst/>
          </a:prstGeom>
        </p:spPr>
      </p:pic>
      <p:sp>
        <p:nvSpPr>
          <p:cNvPr id="2" name="TextBox 1">
            <a:extLst>
              <a:ext uri="{FF2B5EF4-FFF2-40B4-BE49-F238E27FC236}">
                <a16:creationId xmlns:a16="http://schemas.microsoft.com/office/drawing/2014/main" id="{9ABC7536-FDE1-0879-0399-3DD4C5EAF7CB}"/>
              </a:ext>
            </a:extLst>
          </p:cNvPr>
          <p:cNvSpPr txBox="1"/>
          <p:nvPr/>
        </p:nvSpPr>
        <p:spPr>
          <a:xfrm>
            <a:off x="2657061" y="2919801"/>
            <a:ext cx="6679096" cy="523220"/>
          </a:xfrm>
          <a:prstGeom prst="rect">
            <a:avLst/>
          </a:prstGeom>
          <a:noFill/>
        </p:spPr>
        <p:txBody>
          <a:bodyPr wrap="square" rtlCol="0">
            <a:spAutoFit/>
          </a:bodyPr>
          <a:lstStyle/>
          <a:p>
            <a:pPr algn="ctr"/>
            <a:r>
              <a:rPr lang="en-US" sz="2800" dirty="0">
                <a:solidFill>
                  <a:srgbClr val="002060"/>
                </a:solidFill>
              </a:rPr>
              <a:t>MAJOR PROJECT REPORT ON</a:t>
            </a:r>
          </a:p>
        </p:txBody>
      </p:sp>
      <p:sp>
        <p:nvSpPr>
          <p:cNvPr id="5" name="TextBox 4">
            <a:extLst>
              <a:ext uri="{FF2B5EF4-FFF2-40B4-BE49-F238E27FC236}">
                <a16:creationId xmlns:a16="http://schemas.microsoft.com/office/drawing/2014/main" id="{35F39B55-F42C-2D21-1C42-A87CA1CAB732}"/>
              </a:ext>
            </a:extLst>
          </p:cNvPr>
          <p:cNvSpPr txBox="1"/>
          <p:nvPr/>
        </p:nvSpPr>
        <p:spPr>
          <a:xfrm>
            <a:off x="2895014" y="3876069"/>
            <a:ext cx="6574247" cy="83099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400" dirty="0">
                <a:ln w="0"/>
                <a:solidFill>
                  <a:schemeClr val="tx1"/>
                </a:solidFill>
                <a:effectLst>
                  <a:outerShdw blurRad="38100" dist="19050" dir="2700000" algn="tl" rotWithShape="0">
                    <a:schemeClr val="dk1">
                      <a:alpha val="40000"/>
                    </a:schemeClr>
                  </a:outerShdw>
                </a:effectLst>
              </a:rPr>
              <a:t>IOT BASED SMART AGRICULTURE MONITORING SYSTEM</a:t>
            </a:r>
          </a:p>
        </p:txBody>
      </p:sp>
      <p:sp>
        <p:nvSpPr>
          <p:cNvPr id="7" name="TextBox 6">
            <a:extLst>
              <a:ext uri="{FF2B5EF4-FFF2-40B4-BE49-F238E27FC236}">
                <a16:creationId xmlns:a16="http://schemas.microsoft.com/office/drawing/2014/main" id="{7C3DA3C1-6C9A-ED72-D02D-C33150789059}"/>
              </a:ext>
            </a:extLst>
          </p:cNvPr>
          <p:cNvSpPr txBox="1"/>
          <p:nvPr/>
        </p:nvSpPr>
        <p:spPr>
          <a:xfrm>
            <a:off x="4956314" y="4770783"/>
            <a:ext cx="2252870" cy="369332"/>
          </a:xfrm>
          <a:prstGeom prst="rect">
            <a:avLst/>
          </a:prstGeom>
          <a:noFill/>
        </p:spPr>
        <p:txBody>
          <a:bodyPr wrap="square" rtlCol="0">
            <a:spAutoFit/>
          </a:bodyPr>
          <a:lstStyle/>
          <a:p>
            <a:pPr algn="ctr"/>
            <a:r>
              <a:rPr lang="en-US" dirty="0"/>
              <a:t>2020-2024</a:t>
            </a:r>
          </a:p>
        </p:txBody>
      </p:sp>
      <p:sp>
        <p:nvSpPr>
          <p:cNvPr id="8" name="TextBox 7">
            <a:extLst>
              <a:ext uri="{FF2B5EF4-FFF2-40B4-BE49-F238E27FC236}">
                <a16:creationId xmlns:a16="http://schemas.microsoft.com/office/drawing/2014/main" id="{1FE4BEE5-7B08-BB50-D2D3-D28B7852402D}"/>
              </a:ext>
            </a:extLst>
          </p:cNvPr>
          <p:cNvSpPr txBox="1"/>
          <p:nvPr/>
        </p:nvSpPr>
        <p:spPr>
          <a:xfrm>
            <a:off x="7938052" y="5140115"/>
            <a:ext cx="2968486" cy="1107996"/>
          </a:xfrm>
          <a:prstGeom prst="rect">
            <a:avLst/>
          </a:prstGeom>
          <a:noFill/>
        </p:spPr>
        <p:txBody>
          <a:bodyPr wrap="square" rtlCol="0">
            <a:spAutoFit/>
          </a:bodyPr>
          <a:lstStyle/>
          <a:p>
            <a:r>
              <a:rPr lang="en-US" b="1" dirty="0"/>
              <a:t>PRESENTED BY:</a:t>
            </a:r>
          </a:p>
          <a:p>
            <a:r>
              <a:rPr lang="en-US" sz="1600" dirty="0">
                <a:latin typeface="Times New Roman" panose="02020603050405020304" pitchFamily="18" charset="0"/>
                <a:cs typeface="Times New Roman" panose="02020603050405020304" pitchFamily="18" charset="0"/>
              </a:rPr>
              <a:t>B.SAI RAMYA   20Q91A0452</a:t>
            </a:r>
          </a:p>
          <a:p>
            <a:r>
              <a:rPr lang="en-US" sz="1600" dirty="0">
                <a:latin typeface="Times New Roman" panose="02020603050405020304" pitchFamily="18" charset="0"/>
                <a:cs typeface="Times New Roman" panose="02020603050405020304" pitchFamily="18" charset="0"/>
              </a:rPr>
              <a:t>A.THARUN        20Q91A0454</a:t>
            </a:r>
          </a:p>
          <a:p>
            <a:r>
              <a:rPr lang="en-US" sz="1600" dirty="0">
                <a:latin typeface="Times New Roman" panose="02020603050405020304" pitchFamily="18" charset="0"/>
                <a:cs typeface="Times New Roman" panose="02020603050405020304" pitchFamily="18" charset="0"/>
              </a:rPr>
              <a:t>B.NANDINI        20Q91A0422</a:t>
            </a:r>
          </a:p>
        </p:txBody>
      </p:sp>
      <p:sp>
        <p:nvSpPr>
          <p:cNvPr id="9" name="TextBox 8">
            <a:extLst>
              <a:ext uri="{FF2B5EF4-FFF2-40B4-BE49-F238E27FC236}">
                <a16:creationId xmlns:a16="http://schemas.microsoft.com/office/drawing/2014/main" id="{E592C3BB-3A14-1FF6-6CE5-2A8BCB13966A}"/>
              </a:ext>
            </a:extLst>
          </p:cNvPr>
          <p:cNvSpPr txBox="1"/>
          <p:nvPr/>
        </p:nvSpPr>
        <p:spPr>
          <a:xfrm>
            <a:off x="1210238" y="5261112"/>
            <a:ext cx="3149727"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Under the guidance of Mr.Dr.D.RAJESH</a:t>
            </a:r>
          </a:p>
          <a:p>
            <a:pPr algn="ctr"/>
            <a:r>
              <a:rPr lang="en-US" dirty="0">
                <a:latin typeface="Times New Roman" panose="02020603050405020304" pitchFamily="18" charset="0"/>
                <a:cs typeface="Times New Roman" panose="02020603050405020304" pitchFamily="18" charset="0"/>
              </a:rPr>
              <a:t>Assistant professor</a:t>
            </a:r>
          </a:p>
        </p:txBody>
      </p:sp>
    </p:spTree>
    <p:extLst>
      <p:ext uri="{BB962C8B-B14F-4D97-AF65-F5344CB8AC3E}">
        <p14:creationId xmlns:p14="http://schemas.microsoft.com/office/powerpoint/2010/main" val="4144806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78AAD3-4FFE-FBB3-9EF9-C73EAB7C8F70}"/>
              </a:ext>
            </a:extLst>
          </p:cNvPr>
          <p:cNvSpPr txBox="1"/>
          <p:nvPr/>
        </p:nvSpPr>
        <p:spPr>
          <a:xfrm>
            <a:off x="3368842" y="606391"/>
            <a:ext cx="4908884" cy="58477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INTRODUCTION</a:t>
            </a:r>
          </a:p>
        </p:txBody>
      </p:sp>
      <p:sp>
        <p:nvSpPr>
          <p:cNvPr id="8" name="TextBox 7">
            <a:extLst>
              <a:ext uri="{FF2B5EF4-FFF2-40B4-BE49-F238E27FC236}">
                <a16:creationId xmlns:a16="http://schemas.microsoft.com/office/drawing/2014/main" id="{66FA51DD-BF54-2439-4ABE-F7B0C5880DD6}"/>
              </a:ext>
            </a:extLst>
          </p:cNvPr>
          <p:cNvSpPr txBox="1"/>
          <p:nvPr/>
        </p:nvSpPr>
        <p:spPr>
          <a:xfrm>
            <a:off x="528919" y="1655545"/>
            <a:ext cx="11107270" cy="4708981"/>
          </a:xfrm>
          <a:prstGeom prst="rect">
            <a:avLst/>
          </a:prstGeom>
          <a:noFill/>
        </p:spPr>
        <p:txBody>
          <a:bodyPr wrap="square" rtlCol="0">
            <a:spAutoFit/>
          </a:bodyPr>
          <a:lstStyle/>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Brief overview of traditional agriculture challenges:</a:t>
            </a:r>
          </a:p>
          <a:p>
            <a:pPr lvl="2" algn="just"/>
            <a:r>
              <a:rPr lang="en-US" sz="2000" dirty="0">
                <a:latin typeface="Times New Roman" panose="02020603050405020304" pitchFamily="18" charset="0"/>
                <a:cs typeface="Times New Roman" panose="02020603050405020304" pitchFamily="18" charset="0"/>
              </a:rPr>
              <a:t>Traditional agriculture faces challenges like labor-intensive practices, over-exploitation of resources, lack of real-time monitoring, inefficient water management, and vulnerability to environmental changes, resulting in lower productivity and sustainability.</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need for smart and efficient farming practices:</a:t>
            </a:r>
          </a:p>
          <a:p>
            <a:pPr lvl="2" algn="just"/>
            <a:r>
              <a:rPr lang="en-US" sz="2000" dirty="0">
                <a:latin typeface="Times New Roman" panose="02020603050405020304" pitchFamily="18" charset="0"/>
                <a:cs typeface="Times New Roman" panose="02020603050405020304" pitchFamily="18" charset="0"/>
              </a:rPr>
              <a:t>To address resource constraints, environmental impacts, and food demands of a growing population, there is a pressing need for smart, data-driven, and efficient farming practices that optimize inputs and maximize yields.</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importance of IoT in modern agriculture:</a:t>
            </a:r>
          </a:p>
          <a:p>
            <a:pPr lvl="2" algn="just"/>
            <a:r>
              <a:rPr lang="en-US" sz="2000" dirty="0">
                <a:latin typeface="Times New Roman" panose="02020603050405020304" pitchFamily="18" charset="0"/>
                <a:cs typeface="Times New Roman" panose="02020603050405020304" pitchFamily="18" charset="0"/>
              </a:rPr>
              <a:t>IoT plays a crucial role in modern agriculture by enabling real-time monitoring of crop and soil conditions, automated irrigation systems, predictive analysis for pest and disease management, and precise application of inputs like water and fertilizers. IoT-based smart farming enhances productivity, reduces wastage of resources, and supports sustainable agricultural practices.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1085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F9D2BC-594D-886D-4AC7-9A83183A0066}"/>
              </a:ext>
            </a:extLst>
          </p:cNvPr>
          <p:cNvSpPr txBox="1"/>
          <p:nvPr/>
        </p:nvSpPr>
        <p:spPr>
          <a:xfrm>
            <a:off x="3705727" y="664143"/>
            <a:ext cx="5120640"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EXISTING SYSTEM</a:t>
            </a:r>
          </a:p>
        </p:txBody>
      </p:sp>
      <p:sp>
        <p:nvSpPr>
          <p:cNvPr id="4" name="TextBox 3">
            <a:extLst>
              <a:ext uri="{FF2B5EF4-FFF2-40B4-BE49-F238E27FC236}">
                <a16:creationId xmlns:a16="http://schemas.microsoft.com/office/drawing/2014/main" id="{0A88B028-58B4-7C37-B1B3-5096CF892392}"/>
              </a:ext>
            </a:extLst>
          </p:cNvPr>
          <p:cNvSpPr txBox="1"/>
          <p:nvPr/>
        </p:nvSpPr>
        <p:spPr>
          <a:xfrm>
            <a:off x="1106905" y="1607419"/>
            <a:ext cx="9885146" cy="3477875"/>
          </a:xfrm>
          <a:prstGeom prst="rect">
            <a:avLst/>
          </a:prstGeom>
          <a:noFill/>
        </p:spPr>
        <p:txBody>
          <a:bodyPr wrap="square" rtlCol="0">
            <a:spAutoFit/>
          </a:bodyPr>
          <a:lstStyle/>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existing method and one of the oldest ways in agriculture is the manual method of checking the parameters. In this method farmers they themselves verify all the parameters and calculate the reading. </a:t>
            </a:r>
          </a:p>
          <a:p>
            <a:pPr marL="285750" indent="-28575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Farmers used to guess the fertility of the soil and assumed to grow which type of crop. They didn’t know about the moisture, level of water, and particularly weather condition which terrifies a farmer more. </a:t>
            </a:r>
          </a:p>
          <a:p>
            <a:pPr marL="285750" indent="-28575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They use pesticides based on some assumptions which made leads to a serious effect on the crop if the assumption is wrong. The productivity depends on the final stage of the crop on which the farmer depends.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1398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CA433C-313A-7135-991E-2FD565270BE8}"/>
              </a:ext>
            </a:extLst>
          </p:cNvPr>
          <p:cNvSpPr txBox="1"/>
          <p:nvPr/>
        </p:nvSpPr>
        <p:spPr>
          <a:xfrm>
            <a:off x="2438757" y="782546"/>
            <a:ext cx="7314486" cy="1077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DRAWBACKS OF EXISTING SYSTEM</a:t>
            </a:r>
          </a:p>
        </p:txBody>
      </p:sp>
      <p:sp>
        <p:nvSpPr>
          <p:cNvPr id="5" name="TextBox 4">
            <a:extLst>
              <a:ext uri="{FF2B5EF4-FFF2-40B4-BE49-F238E27FC236}">
                <a16:creationId xmlns:a16="http://schemas.microsoft.com/office/drawing/2014/main" id="{0032E3F2-7F80-BDDA-EB6A-AC905224F270}"/>
              </a:ext>
            </a:extLst>
          </p:cNvPr>
          <p:cNvSpPr txBox="1"/>
          <p:nvPr/>
        </p:nvSpPr>
        <p:spPr>
          <a:xfrm>
            <a:off x="2040556" y="2214390"/>
            <a:ext cx="6883107" cy="2862322"/>
          </a:xfrm>
          <a:prstGeom prst="rect">
            <a:avLst/>
          </a:prstGeom>
          <a:noFill/>
        </p:spPr>
        <p:txBody>
          <a:bodyPr wrap="square" rtlCol="0">
            <a:spAutoFit/>
          </a:bodyPr>
          <a:lstStyle/>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Productivity may or may not be more</a:t>
            </a:r>
          </a:p>
          <a:p>
            <a:pPr marL="285750" indent="-28575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We cannot estimate weather conditions as pollution is increasing gradually etc.</a:t>
            </a:r>
          </a:p>
          <a:p>
            <a:pPr marL="285750" indent="-28575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There is no proper crop protection.</a:t>
            </a:r>
          </a:p>
          <a:p>
            <a:pPr marL="285750" indent="-28575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No indication system for farmer.</a:t>
            </a:r>
          </a:p>
          <a:p>
            <a:pPr marL="285750" indent="-285750" algn="just">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5130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040070-E245-3417-C56B-24782B3F5426}"/>
              </a:ext>
            </a:extLst>
          </p:cNvPr>
          <p:cNvSpPr txBox="1"/>
          <p:nvPr/>
        </p:nvSpPr>
        <p:spPr>
          <a:xfrm>
            <a:off x="3195587" y="442762"/>
            <a:ext cx="5332396"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PROPOSED SYSTEM</a:t>
            </a:r>
          </a:p>
        </p:txBody>
      </p:sp>
      <p:sp>
        <p:nvSpPr>
          <p:cNvPr id="5" name="TextBox 4">
            <a:extLst>
              <a:ext uri="{FF2B5EF4-FFF2-40B4-BE49-F238E27FC236}">
                <a16:creationId xmlns:a16="http://schemas.microsoft.com/office/drawing/2014/main" id="{78799C7E-1DDD-33A2-ED93-273D72B67DBB}"/>
              </a:ext>
            </a:extLst>
          </p:cNvPr>
          <p:cNvSpPr txBox="1"/>
          <p:nvPr/>
        </p:nvSpPr>
        <p:spPr>
          <a:xfrm>
            <a:off x="1212784" y="1454227"/>
            <a:ext cx="10046456" cy="3785652"/>
          </a:xfrm>
          <a:prstGeom prst="rect">
            <a:avLst/>
          </a:prstGeom>
          <a:noFill/>
        </p:spPr>
        <p:txBody>
          <a:bodyPr wrap="square" rtlCol="0">
            <a:spAutoFit/>
          </a:bodyPr>
          <a:lstStyle/>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Monitoring agricultural environment for various factors such as temperature and humidity along with significance to protect the crops from environmental heavy rain, heavy sun rays, heavy chemical industries pollution's, and fire detection to the crop with help of sensors where farmer can get update of the field. </a:t>
            </a:r>
          </a:p>
          <a:p>
            <a:pPr marL="285750" indent="-28575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It focuses on developing devices and tool to manage, display and alert the users using the advantages of a wireless sensor network system. It aims at making agriculture smart using automation and IOT technologies.</a:t>
            </a:r>
          </a:p>
          <a:p>
            <a:pPr marL="285750" indent="-28575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It proposes a low cost and efficient wireless sensor network technique to acquire from different sensors. As per need of the crop controller to take decision whether the irrigation is enabled or not. </a:t>
            </a:r>
          </a:p>
        </p:txBody>
      </p:sp>
    </p:spTree>
    <p:extLst>
      <p:ext uri="{BB962C8B-B14F-4D97-AF65-F5344CB8AC3E}">
        <p14:creationId xmlns:p14="http://schemas.microsoft.com/office/powerpoint/2010/main" val="3665088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8DDB02-BAA2-187E-CA7E-0B70F16F2DAE}"/>
              </a:ext>
            </a:extLst>
          </p:cNvPr>
          <p:cNvSpPr txBox="1"/>
          <p:nvPr/>
        </p:nvSpPr>
        <p:spPr>
          <a:xfrm>
            <a:off x="3801980" y="683394"/>
            <a:ext cx="4273617"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BLOCK DIAGRAM</a:t>
            </a:r>
          </a:p>
        </p:txBody>
      </p:sp>
      <p:sp>
        <p:nvSpPr>
          <p:cNvPr id="3" name="AutoShape 168" hidden="1">
            <a:extLst>
              <a:ext uri="{FF2B5EF4-FFF2-40B4-BE49-F238E27FC236}">
                <a16:creationId xmlns:a16="http://schemas.microsoft.com/office/drawing/2014/main" id="{805449D0-2B25-C7B8-080A-DD698EE16ACF}"/>
              </a:ext>
            </a:extLst>
          </p:cNvPr>
          <p:cNvSpPr>
            <a:spLocks noChangeShapeType="1"/>
          </p:cNvSpPr>
          <p:nvPr/>
        </p:nvSpPr>
        <p:spPr bwMode="auto">
          <a:xfrm>
            <a:off x="3307976" y="1344706"/>
            <a:ext cx="635000" cy="63500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1026">
            <a:extLst>
              <a:ext uri="{FF2B5EF4-FFF2-40B4-BE49-F238E27FC236}">
                <a16:creationId xmlns:a16="http://schemas.microsoft.com/office/drawing/2014/main" id="{8AFE00D2-3B2B-C7A5-5CCD-DE08A8F6F1A3}"/>
              </a:ext>
            </a:extLst>
          </p:cNvPr>
          <p:cNvSpPr>
            <a:spLocks noChangeArrowheads="1"/>
          </p:cNvSpPr>
          <p:nvPr/>
        </p:nvSpPr>
        <p:spPr bwMode="auto">
          <a:xfrm>
            <a:off x="5272087" y="1779826"/>
            <a:ext cx="1647825" cy="4148137"/>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400" dirty="0">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400" dirty="0">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400" dirty="0">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400" dirty="0">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ARDUINO</a:t>
            </a:r>
            <a:endParaRPr kumimoji="0" lang="en-US" altLang="en-US"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CONTROLLER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1027">
            <a:extLst>
              <a:ext uri="{FF2B5EF4-FFF2-40B4-BE49-F238E27FC236}">
                <a16:creationId xmlns:a16="http://schemas.microsoft.com/office/drawing/2014/main" id="{F9B74BDF-E6A7-45AC-8121-AFE778682B12}"/>
              </a:ext>
            </a:extLst>
          </p:cNvPr>
          <p:cNvSpPr>
            <a:spLocks noChangeArrowheads="1"/>
          </p:cNvSpPr>
          <p:nvPr/>
        </p:nvSpPr>
        <p:spPr bwMode="auto">
          <a:xfrm>
            <a:off x="3327399" y="2103676"/>
            <a:ext cx="1350963" cy="658812"/>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RPS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1028">
            <a:extLst>
              <a:ext uri="{FF2B5EF4-FFF2-40B4-BE49-F238E27FC236}">
                <a16:creationId xmlns:a16="http://schemas.microsoft.com/office/drawing/2014/main" id="{C065B388-81E2-DFBB-0E93-E0A2C387E704}"/>
              </a:ext>
            </a:extLst>
          </p:cNvPr>
          <p:cNvSpPr>
            <a:spLocks noChangeArrowheads="1"/>
          </p:cNvSpPr>
          <p:nvPr/>
        </p:nvSpPr>
        <p:spPr bwMode="auto">
          <a:xfrm>
            <a:off x="7816849" y="2054463"/>
            <a:ext cx="1350963" cy="658813"/>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LCD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1030">
            <a:extLst>
              <a:ext uri="{FF2B5EF4-FFF2-40B4-BE49-F238E27FC236}">
                <a16:creationId xmlns:a16="http://schemas.microsoft.com/office/drawing/2014/main" id="{A609EFB6-8576-8772-629F-5360160E0A4D}"/>
              </a:ext>
            </a:extLst>
          </p:cNvPr>
          <p:cNvSpPr>
            <a:spLocks noChangeShapeType="1"/>
          </p:cNvSpPr>
          <p:nvPr/>
        </p:nvSpPr>
        <p:spPr bwMode="auto">
          <a:xfrm>
            <a:off x="6921499" y="2384663"/>
            <a:ext cx="89535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1031">
            <a:extLst>
              <a:ext uri="{FF2B5EF4-FFF2-40B4-BE49-F238E27FC236}">
                <a16:creationId xmlns:a16="http://schemas.microsoft.com/office/drawing/2014/main" id="{14930F1A-7F6D-5573-7712-A989A90D2D72}"/>
              </a:ext>
            </a:extLst>
          </p:cNvPr>
          <p:cNvSpPr>
            <a:spLocks noChangeShapeType="1"/>
          </p:cNvSpPr>
          <p:nvPr/>
        </p:nvSpPr>
        <p:spPr bwMode="auto">
          <a:xfrm>
            <a:off x="4670424" y="2384663"/>
            <a:ext cx="601663"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1034">
            <a:extLst>
              <a:ext uri="{FF2B5EF4-FFF2-40B4-BE49-F238E27FC236}">
                <a16:creationId xmlns:a16="http://schemas.microsoft.com/office/drawing/2014/main" id="{285E75F4-AFF3-77A8-F3C7-7E9C15F1EDD6}"/>
              </a:ext>
            </a:extLst>
          </p:cNvPr>
          <p:cNvSpPr>
            <a:spLocks noChangeArrowheads="1"/>
          </p:cNvSpPr>
          <p:nvPr/>
        </p:nvSpPr>
        <p:spPr bwMode="auto">
          <a:xfrm>
            <a:off x="2984499" y="2933938"/>
            <a:ext cx="1533525" cy="658813"/>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SOIL MOISTURE SENSOR</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1035">
            <a:extLst>
              <a:ext uri="{FF2B5EF4-FFF2-40B4-BE49-F238E27FC236}">
                <a16:creationId xmlns:a16="http://schemas.microsoft.com/office/drawing/2014/main" id="{A646B210-872C-1FB7-6187-4791D7EAD4F8}"/>
              </a:ext>
            </a:extLst>
          </p:cNvPr>
          <p:cNvSpPr>
            <a:spLocks noChangeShapeType="1"/>
          </p:cNvSpPr>
          <p:nvPr/>
        </p:nvSpPr>
        <p:spPr bwMode="auto">
          <a:xfrm>
            <a:off x="4518024" y="3284776"/>
            <a:ext cx="754063" cy="1111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1042">
            <a:extLst>
              <a:ext uri="{FF2B5EF4-FFF2-40B4-BE49-F238E27FC236}">
                <a16:creationId xmlns:a16="http://schemas.microsoft.com/office/drawing/2014/main" id="{B79FF0DB-011A-A32E-E732-49983C4C15D5}"/>
              </a:ext>
            </a:extLst>
          </p:cNvPr>
          <p:cNvSpPr>
            <a:spLocks noChangeArrowheads="1"/>
          </p:cNvSpPr>
          <p:nvPr/>
        </p:nvSpPr>
        <p:spPr bwMode="auto">
          <a:xfrm>
            <a:off x="7816849" y="4416663"/>
            <a:ext cx="1350963" cy="658813"/>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AC WATER PUMP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AutoShape 179">
            <a:extLst>
              <a:ext uri="{FF2B5EF4-FFF2-40B4-BE49-F238E27FC236}">
                <a16:creationId xmlns:a16="http://schemas.microsoft.com/office/drawing/2014/main" id="{4CF8D8D3-CF82-D9E8-C66E-0E3CCA1F77E6}"/>
              </a:ext>
            </a:extLst>
          </p:cNvPr>
          <p:cNvSpPr>
            <a:spLocks noChangeArrowheads="1"/>
          </p:cNvSpPr>
          <p:nvPr/>
        </p:nvSpPr>
        <p:spPr bwMode="auto">
          <a:xfrm>
            <a:off x="7816849" y="3514963"/>
            <a:ext cx="1350963" cy="430213"/>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RELAY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AutoShape 180">
            <a:extLst>
              <a:ext uri="{FF2B5EF4-FFF2-40B4-BE49-F238E27FC236}">
                <a16:creationId xmlns:a16="http://schemas.microsoft.com/office/drawing/2014/main" id="{2046EBC3-2663-767C-9681-FE0ABD209D13}"/>
              </a:ext>
            </a:extLst>
          </p:cNvPr>
          <p:cNvSpPr>
            <a:spLocks noChangeShapeType="1"/>
          </p:cNvSpPr>
          <p:nvPr/>
        </p:nvSpPr>
        <p:spPr bwMode="auto">
          <a:xfrm>
            <a:off x="6908799" y="3688001"/>
            <a:ext cx="89535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1">
            <a:extLst>
              <a:ext uri="{FF2B5EF4-FFF2-40B4-BE49-F238E27FC236}">
                <a16:creationId xmlns:a16="http://schemas.microsoft.com/office/drawing/2014/main" id="{42A0892B-D835-E0B4-9742-DF02818BAD16}"/>
              </a:ext>
            </a:extLst>
          </p:cNvPr>
          <p:cNvSpPr>
            <a:spLocks noChangeShapeType="1"/>
          </p:cNvSpPr>
          <p:nvPr/>
        </p:nvSpPr>
        <p:spPr bwMode="auto">
          <a:xfrm>
            <a:off x="8462962" y="3949938"/>
            <a:ext cx="0" cy="46196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5">
            <a:extLst>
              <a:ext uri="{FF2B5EF4-FFF2-40B4-BE49-F238E27FC236}">
                <a16:creationId xmlns:a16="http://schemas.microsoft.com/office/drawing/2014/main" id="{1A2CF779-31E7-DE68-9341-741725780E9E}"/>
              </a:ext>
            </a:extLst>
          </p:cNvPr>
          <p:cNvSpPr>
            <a:spLocks noChangeArrowheads="1"/>
          </p:cNvSpPr>
          <p:nvPr/>
        </p:nvSpPr>
        <p:spPr bwMode="auto">
          <a:xfrm>
            <a:off x="2936874" y="4095988"/>
            <a:ext cx="1533525" cy="454025"/>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IR SENSOR</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 name="AutoShape 4">
            <a:extLst>
              <a:ext uri="{FF2B5EF4-FFF2-40B4-BE49-F238E27FC236}">
                <a16:creationId xmlns:a16="http://schemas.microsoft.com/office/drawing/2014/main" id="{4CDE63BB-BBE7-1691-3A58-8B46B0634AB7}"/>
              </a:ext>
            </a:extLst>
          </p:cNvPr>
          <p:cNvSpPr>
            <a:spLocks noChangeShapeType="1"/>
          </p:cNvSpPr>
          <p:nvPr/>
        </p:nvSpPr>
        <p:spPr bwMode="auto">
          <a:xfrm>
            <a:off x="4470399" y="4280138"/>
            <a:ext cx="754063" cy="1111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3">
            <a:extLst>
              <a:ext uri="{FF2B5EF4-FFF2-40B4-BE49-F238E27FC236}">
                <a16:creationId xmlns:a16="http://schemas.microsoft.com/office/drawing/2014/main" id="{D932F2D8-BEBD-C131-4D1B-BFB15F6902AE}"/>
              </a:ext>
            </a:extLst>
          </p:cNvPr>
          <p:cNvSpPr>
            <a:spLocks noChangeArrowheads="1"/>
          </p:cNvSpPr>
          <p:nvPr/>
        </p:nvSpPr>
        <p:spPr bwMode="auto">
          <a:xfrm>
            <a:off x="7664449" y="5391388"/>
            <a:ext cx="1350963" cy="658813"/>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WIFI MODULE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AutoShape 187">
            <a:extLst>
              <a:ext uri="{FF2B5EF4-FFF2-40B4-BE49-F238E27FC236}">
                <a16:creationId xmlns:a16="http://schemas.microsoft.com/office/drawing/2014/main" id="{02F3F126-8ABD-1A66-A93C-1757C31770D0}"/>
              </a:ext>
            </a:extLst>
          </p:cNvPr>
          <p:cNvSpPr>
            <a:spLocks noChangeShapeType="1"/>
          </p:cNvSpPr>
          <p:nvPr/>
        </p:nvSpPr>
        <p:spPr bwMode="auto">
          <a:xfrm>
            <a:off x="6908799" y="5662851"/>
            <a:ext cx="75565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9544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E889F0-652D-BEAF-175B-E2925E6F55EC}"/>
              </a:ext>
            </a:extLst>
          </p:cNvPr>
          <p:cNvSpPr txBox="1"/>
          <p:nvPr/>
        </p:nvSpPr>
        <p:spPr>
          <a:xfrm>
            <a:off x="2448877" y="618383"/>
            <a:ext cx="7477321"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HARDWARE COMPONENTS USED</a:t>
            </a:r>
          </a:p>
        </p:txBody>
      </p:sp>
      <p:sp>
        <p:nvSpPr>
          <p:cNvPr id="4" name="TextBox 3">
            <a:extLst>
              <a:ext uri="{FF2B5EF4-FFF2-40B4-BE49-F238E27FC236}">
                <a16:creationId xmlns:a16="http://schemas.microsoft.com/office/drawing/2014/main" id="{58BFC62D-07F7-5BBA-E509-541CB39A08BF}"/>
              </a:ext>
            </a:extLst>
          </p:cNvPr>
          <p:cNvSpPr txBox="1"/>
          <p:nvPr/>
        </p:nvSpPr>
        <p:spPr>
          <a:xfrm>
            <a:off x="3119718" y="1953928"/>
            <a:ext cx="5360894" cy="2246769"/>
          </a:xfrm>
          <a:prstGeom prst="rect">
            <a:avLst/>
          </a:prstGeom>
          <a:noFill/>
        </p:spPr>
        <p:txBody>
          <a:bodyPr wrap="square" rtlCol="0">
            <a:spAutoFit/>
          </a:bodyPr>
          <a:lstStyle/>
          <a:p>
            <a:pPr marL="742950" marR="0" lvl="0" indent="-742950" algn="l" defTabSz="914400" rtl="0" eaLnBrk="1" fontAlgn="auto" latinLnBrk="0" hangingPunct="1">
              <a:lnSpc>
                <a:spcPct val="100000"/>
              </a:lnSpc>
              <a:spcBef>
                <a:spcPts val="0"/>
              </a:spcBef>
              <a:spcAft>
                <a:spcPts val="0"/>
              </a:spcAft>
              <a:buClrTx/>
              <a:buSzTx/>
              <a:buFont typeface="+mj-lt"/>
              <a:buAutoNum type="arabicPeriod"/>
              <a:tabLst/>
              <a:defRPr/>
            </a:pPr>
            <a:r>
              <a:rPr lang="en-IN" sz="2000" dirty="0">
                <a:latin typeface="Times New Roman" panose="02020603050405020304" pitchFamily="18" charset="0"/>
                <a:cs typeface="Times New Roman" panose="02020603050405020304" pitchFamily="18" charset="0"/>
              </a:rPr>
              <a:t>Soil Moisture Sensor</a:t>
            </a:r>
          </a:p>
          <a:p>
            <a:pPr marL="742950" marR="0" lvl="0" indent="-742950" algn="l" defTabSz="914400" rtl="0" eaLnBrk="1" fontAlgn="auto" latinLnBrk="0" hangingPunct="1">
              <a:lnSpc>
                <a:spcPct val="100000"/>
              </a:lnSpc>
              <a:spcBef>
                <a:spcPts val="0"/>
              </a:spcBef>
              <a:spcAft>
                <a:spcPts val="0"/>
              </a:spcAft>
              <a:buClrTx/>
              <a:buSzTx/>
              <a:buFont typeface="+mj-lt"/>
              <a:buAutoNum type="arabicPeriod"/>
              <a:tabLst/>
              <a:defRPr/>
            </a:pPr>
            <a:r>
              <a:rPr lang="en-IN" sz="2000" dirty="0">
                <a:latin typeface="Times New Roman" panose="02020603050405020304" pitchFamily="18" charset="0"/>
                <a:cs typeface="Times New Roman" panose="02020603050405020304" pitchFamily="18" charset="0"/>
              </a:rPr>
              <a:t>IR Sensor</a:t>
            </a:r>
          </a:p>
          <a:p>
            <a:pPr marL="742950" marR="0" lvl="0" indent="-742950" algn="l" defTabSz="914400" rtl="0" eaLnBrk="1" fontAlgn="auto" latinLnBrk="0" hangingPunct="1">
              <a:lnSpc>
                <a:spcPct val="100000"/>
              </a:lnSpc>
              <a:spcBef>
                <a:spcPts val="0"/>
              </a:spcBef>
              <a:spcAft>
                <a:spcPts val="0"/>
              </a:spcAft>
              <a:buClrTx/>
              <a:buSzTx/>
              <a:buFont typeface="+mj-lt"/>
              <a:buAutoNum type="arabicPeriod"/>
              <a:tabLst/>
              <a:defRPr/>
            </a:pPr>
            <a:r>
              <a:rPr lang="en-IN" sz="2000" dirty="0">
                <a:latin typeface="Times New Roman" panose="02020603050405020304" pitchFamily="18" charset="0"/>
                <a:cs typeface="Times New Roman" panose="02020603050405020304" pitchFamily="18" charset="0"/>
              </a:rPr>
              <a:t>16X2 LCD(Liquid Crystal Display)</a:t>
            </a:r>
          </a:p>
          <a:p>
            <a:pPr marL="742950" marR="0" lvl="0" indent="-742950" algn="l" defTabSz="914400" rtl="0" eaLnBrk="1" fontAlgn="auto" latinLnBrk="0" hangingPunct="1">
              <a:lnSpc>
                <a:spcPct val="100000"/>
              </a:lnSpc>
              <a:spcBef>
                <a:spcPts val="0"/>
              </a:spcBef>
              <a:spcAft>
                <a:spcPts val="0"/>
              </a:spcAft>
              <a:buClrTx/>
              <a:buSzTx/>
              <a:buFont typeface="+mj-lt"/>
              <a:buAutoNum type="arabicPeriod"/>
              <a:tabLst/>
              <a:defRPr/>
            </a:pPr>
            <a:r>
              <a:rPr lang="en-IN" sz="2000" dirty="0">
                <a:latin typeface="Times New Roman" panose="02020603050405020304" pitchFamily="18" charset="0"/>
                <a:cs typeface="Times New Roman" panose="02020603050405020304" pitchFamily="18" charset="0"/>
              </a:rPr>
              <a:t>Relay</a:t>
            </a:r>
          </a:p>
          <a:p>
            <a:pPr marL="742950" marR="0" lvl="0" indent="-742950" algn="l" defTabSz="914400" rtl="0" eaLnBrk="1" fontAlgn="auto" latinLnBrk="0" hangingPunct="1">
              <a:lnSpc>
                <a:spcPct val="100000"/>
              </a:lnSpc>
              <a:spcBef>
                <a:spcPts val="0"/>
              </a:spcBef>
              <a:spcAft>
                <a:spcPts val="0"/>
              </a:spcAft>
              <a:buClrTx/>
              <a:buSzTx/>
              <a:buFont typeface="+mj-lt"/>
              <a:buAutoNum type="arabicPeriod"/>
              <a:tabLst/>
              <a:defRPr/>
            </a:pPr>
            <a:r>
              <a:rPr lang="en-IN" sz="2000" dirty="0">
                <a:latin typeface="Times New Roman" panose="02020603050405020304" pitchFamily="18" charset="0"/>
                <a:cs typeface="Times New Roman" panose="02020603050405020304" pitchFamily="18" charset="0"/>
              </a:rPr>
              <a:t>WIFI Module</a:t>
            </a:r>
          </a:p>
          <a:p>
            <a:pPr marL="742950" marR="0" lvl="0" indent="-742950" algn="l" defTabSz="914400" rtl="0" eaLnBrk="1" fontAlgn="auto" latinLnBrk="0" hangingPunct="1">
              <a:lnSpc>
                <a:spcPct val="100000"/>
              </a:lnSpc>
              <a:spcBef>
                <a:spcPts val="0"/>
              </a:spcBef>
              <a:spcAft>
                <a:spcPts val="0"/>
              </a:spcAft>
              <a:buClrTx/>
              <a:buSzTx/>
              <a:buFont typeface="+mj-lt"/>
              <a:buAutoNum type="arabicPeriod"/>
              <a:tabLst/>
              <a:defRPr/>
            </a:pPr>
            <a:r>
              <a:rPr lang="en-IN" sz="2000" dirty="0">
                <a:latin typeface="Times New Roman" panose="02020603050405020304" pitchFamily="18" charset="0"/>
                <a:cs typeface="Times New Roman" panose="02020603050405020304" pitchFamily="18" charset="0"/>
              </a:rPr>
              <a:t>A.C Water pump</a:t>
            </a:r>
          </a:p>
          <a:p>
            <a:pPr marL="742950" marR="0" lvl="0" indent="-742950" algn="l" defTabSz="914400" rtl="0" eaLnBrk="1" fontAlgn="auto" latinLnBrk="0" hangingPunct="1">
              <a:lnSpc>
                <a:spcPct val="100000"/>
              </a:lnSpc>
              <a:spcBef>
                <a:spcPts val="0"/>
              </a:spcBef>
              <a:spcAft>
                <a:spcPts val="0"/>
              </a:spcAft>
              <a:buClrTx/>
              <a:buSzTx/>
              <a:buFont typeface="+mj-lt"/>
              <a:buAutoNum type="arabicPeriod"/>
              <a:tabLst/>
              <a:defRP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6530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A06D00-5D3E-913B-02E2-E48E9AE57214}"/>
              </a:ext>
            </a:extLst>
          </p:cNvPr>
          <p:cNvSpPr txBox="1"/>
          <p:nvPr/>
        </p:nvSpPr>
        <p:spPr>
          <a:xfrm>
            <a:off x="3410551" y="742328"/>
            <a:ext cx="5370897"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SOIL MOSITURE SENSOR</a:t>
            </a:r>
          </a:p>
        </p:txBody>
      </p:sp>
      <p:sp>
        <p:nvSpPr>
          <p:cNvPr id="3" name="TextBox 2">
            <a:extLst>
              <a:ext uri="{FF2B5EF4-FFF2-40B4-BE49-F238E27FC236}">
                <a16:creationId xmlns:a16="http://schemas.microsoft.com/office/drawing/2014/main" id="{442139F2-4E7D-46AB-61E2-97DBFBA1CE24}"/>
              </a:ext>
            </a:extLst>
          </p:cNvPr>
          <p:cNvSpPr txBox="1"/>
          <p:nvPr/>
        </p:nvSpPr>
        <p:spPr>
          <a:xfrm>
            <a:off x="609600" y="1597794"/>
            <a:ext cx="7709647" cy="4708981"/>
          </a:xfrm>
          <a:prstGeom prst="rect">
            <a:avLst/>
          </a:prstGeom>
          <a:noFill/>
        </p:spPr>
        <p:txBody>
          <a:bodyPr wrap="square" rtlCol="0">
            <a:spAutoFit/>
          </a:bodyPr>
          <a:lstStyle/>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Soil moisture sensors may be wired or wireless. In smart agriculture systems, wireless sensors are often preferred for easy deployment and data collection. These sensors transmit data to a central control system or a cloud-based platform.</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Soil moisture sensors are typically inserted into the ground at various depths, depending on the rooting depth of the crops. Probes or rods are commonly used to ensure proper contact with the soil.</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LM324 series consists of four independent, high gains; internally frequency compensated operational amplifiers which were designed specifically to operate from a single power supply over a wide range of voltages. Operation from split power supplies is also possible and the low power supply current drain is independent of the magnitude of the power supply voltage.</a:t>
            </a:r>
            <a:endParaRPr lang="en-IN" sz="2000" dirty="0">
              <a:latin typeface="Times New Roman" panose="02020603050405020304" pitchFamily="18" charset="0"/>
              <a:cs typeface="Times New Roman" panose="02020603050405020304" pitchFamily="18" charset="0"/>
            </a:endParaRPr>
          </a:p>
        </p:txBody>
      </p:sp>
      <p:pic>
        <p:nvPicPr>
          <p:cNvPr id="1028" name="Picture 4">
            <a:extLst>
              <a:ext uri="{FF2B5EF4-FFF2-40B4-BE49-F238E27FC236}">
                <a16:creationId xmlns:a16="http://schemas.microsoft.com/office/drawing/2014/main" id="{81B81040-B2B2-78D8-D137-02971CDA57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7432" y="2050116"/>
            <a:ext cx="3214968" cy="3214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6245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070878-82B3-FDCE-CAE8-3234F34D9454}"/>
              </a:ext>
            </a:extLst>
          </p:cNvPr>
          <p:cNvSpPr txBox="1"/>
          <p:nvPr/>
        </p:nvSpPr>
        <p:spPr>
          <a:xfrm>
            <a:off x="3634670" y="487710"/>
            <a:ext cx="4716379"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IR SENSOR</a:t>
            </a:r>
          </a:p>
        </p:txBody>
      </p:sp>
      <p:sp>
        <p:nvSpPr>
          <p:cNvPr id="5" name="TextBox 4">
            <a:extLst>
              <a:ext uri="{FF2B5EF4-FFF2-40B4-BE49-F238E27FC236}">
                <a16:creationId xmlns:a16="http://schemas.microsoft.com/office/drawing/2014/main" id="{6A6A5068-0022-70A2-0153-087B2389D258}"/>
              </a:ext>
            </a:extLst>
          </p:cNvPr>
          <p:cNvSpPr txBox="1"/>
          <p:nvPr/>
        </p:nvSpPr>
        <p:spPr>
          <a:xfrm>
            <a:off x="866273" y="1645920"/>
            <a:ext cx="7175068" cy="4708981"/>
          </a:xfrm>
          <a:prstGeom prst="rect">
            <a:avLst/>
          </a:prstGeom>
          <a:noFill/>
        </p:spPr>
        <p:txBody>
          <a:bodyPr wrap="square" rtlCol="0">
            <a:spAutoFit/>
          </a:bodyPr>
          <a:lstStyle/>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electro-luminescent IR LED is a product which requires care in use. IR LED’s are fabricated from narrow band hetero structures with energy gap from 0.25 to 0.4 eV. Infra red transmitter emits IR rays in planar wave front manner. </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Even though infrared rays spread in all directions, it propagates along straight line in forward direction. </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IR (Infrared) sensor is used to detect obstacles or objects by emitting infrared radiation and measuring the reflected radiation.</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 the smart agriculture system, IR sensors are employed to detect the presence of crops or vegetation in the field. This information can be used for automated irrigation scheduling or to monitor crop growth and health.</a:t>
            </a:r>
            <a:endParaRPr lang="en-IN" sz="2000" dirty="0">
              <a:latin typeface="Times New Roman" panose="02020603050405020304" pitchFamily="18" charset="0"/>
              <a:cs typeface="Times New Roman" panose="02020603050405020304" pitchFamily="18" charset="0"/>
            </a:endParaRPr>
          </a:p>
        </p:txBody>
      </p:sp>
      <p:pic>
        <p:nvPicPr>
          <p:cNvPr id="6" name="Picture 5" descr="IMG_256">
            <a:extLst>
              <a:ext uri="{FF2B5EF4-FFF2-40B4-BE49-F238E27FC236}">
                <a16:creationId xmlns:a16="http://schemas.microsoft.com/office/drawing/2014/main" id="{0C514CCC-F8A9-D2E6-F504-A70CFAEFD8C0}"/>
              </a:ext>
            </a:extLst>
          </p:cNvPr>
          <p:cNvPicPr>
            <a:picLocks noChangeAspect="1"/>
          </p:cNvPicPr>
          <p:nvPr/>
        </p:nvPicPr>
        <p:blipFill>
          <a:blip r:embed="rId2"/>
          <a:stretch>
            <a:fillRect/>
          </a:stretch>
        </p:blipFill>
        <p:spPr>
          <a:xfrm>
            <a:off x="8351050" y="1645919"/>
            <a:ext cx="2974678" cy="3374315"/>
          </a:xfrm>
          <a:prstGeom prst="rect">
            <a:avLst/>
          </a:prstGeom>
          <a:noFill/>
          <a:ln w="9525">
            <a:noFill/>
          </a:ln>
        </p:spPr>
      </p:pic>
    </p:spTree>
    <p:extLst>
      <p:ext uri="{BB962C8B-B14F-4D97-AF65-F5344CB8AC3E}">
        <p14:creationId xmlns:p14="http://schemas.microsoft.com/office/powerpoint/2010/main" val="3980443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2F2ED3-8A4C-6DCD-3162-30C65F9B69E4}"/>
              </a:ext>
            </a:extLst>
          </p:cNvPr>
          <p:cNvSpPr txBox="1"/>
          <p:nvPr/>
        </p:nvSpPr>
        <p:spPr>
          <a:xfrm>
            <a:off x="2464067" y="539015"/>
            <a:ext cx="6920566"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16 X 2 LIQUID CRYSTAL DISPLAY</a:t>
            </a:r>
            <a:endParaRPr lang="en-IN"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63C7C54-525B-6915-C303-7F61747B9CFC}"/>
              </a:ext>
            </a:extLst>
          </p:cNvPr>
          <p:cNvSpPr txBox="1"/>
          <p:nvPr/>
        </p:nvSpPr>
        <p:spPr>
          <a:xfrm>
            <a:off x="958467" y="1722922"/>
            <a:ext cx="6202497" cy="3785652"/>
          </a:xfrm>
          <a:prstGeom prst="rect">
            <a:avLst/>
          </a:prstGeom>
          <a:noFill/>
        </p:spPr>
        <p:txBody>
          <a:bodyPr wrap="square" rtlCol="0">
            <a:spAutoFit/>
          </a:bodyPr>
          <a:lstStyle/>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Out of all available LCD modules in market, the most commonly used one is 16×2 LCD Module which can display 32 ASCII characters in 2 lines.</a:t>
            </a:r>
          </a:p>
          <a:p>
            <a:pPr marL="285750" indent="-28575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This module provides an efficient solution for conveying information in a compact and organized manner.</a:t>
            </a:r>
          </a:p>
          <a:p>
            <a:pPr marL="285750" indent="-28575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They are known for their thin profile, lightweight design, and ability to provide sharp and vibrant visuals, making them widely used in consumer electronics.</a:t>
            </a:r>
          </a:p>
          <a:p>
            <a:pPr marL="285750" indent="-28575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F6AE330-9DFF-DBE1-4B04-8A4AD857FC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0964" y="1553378"/>
            <a:ext cx="4638101" cy="4233059"/>
          </a:xfrm>
          <a:prstGeom prst="rect">
            <a:avLst/>
          </a:prstGeom>
        </p:spPr>
      </p:pic>
    </p:spTree>
    <p:extLst>
      <p:ext uri="{BB962C8B-B14F-4D97-AF65-F5344CB8AC3E}">
        <p14:creationId xmlns:p14="http://schemas.microsoft.com/office/powerpoint/2010/main" val="3221587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A8BA28-C8B2-C9CE-6EE5-FA69538B1481}"/>
              </a:ext>
            </a:extLst>
          </p:cNvPr>
          <p:cNvSpPr txBox="1"/>
          <p:nvPr/>
        </p:nvSpPr>
        <p:spPr>
          <a:xfrm>
            <a:off x="2464067" y="539015"/>
            <a:ext cx="6920566"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RELAY</a:t>
            </a:r>
            <a:endParaRPr lang="en-IN"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448415-8AF3-EF9D-5592-F760F2EED251}"/>
              </a:ext>
            </a:extLst>
          </p:cNvPr>
          <p:cNvSpPr txBox="1"/>
          <p:nvPr/>
        </p:nvSpPr>
        <p:spPr>
          <a:xfrm>
            <a:off x="1465006" y="1681316"/>
            <a:ext cx="5692878" cy="3170099"/>
          </a:xfrm>
          <a:prstGeom prst="rect">
            <a:avLst/>
          </a:prstGeom>
          <a:noFill/>
        </p:spPr>
        <p:txBody>
          <a:bodyPr wrap="square" rtlCol="0">
            <a:spAutoFit/>
          </a:bodyPr>
          <a:lstStyle/>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Relay is a simple electromechanical switch. While we use normal switches to close or open a circuit manually, a Relay is also a switch that connects or disconnects two circuits. </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But instead of a manual operation, a relay uses an electrical signal to control an electromagnet, which in turn connects or disconnects another circuit</a:t>
            </a:r>
          </a:p>
          <a:p>
            <a:pPr marL="342900" indent="-342900" algn="just">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p:txBody>
      </p:sp>
      <p:pic>
        <p:nvPicPr>
          <p:cNvPr id="5" name="Picture 4" descr="IMG_256">
            <a:extLst>
              <a:ext uri="{FF2B5EF4-FFF2-40B4-BE49-F238E27FC236}">
                <a16:creationId xmlns:a16="http://schemas.microsoft.com/office/drawing/2014/main" id="{F313D1A4-EC57-3976-DC80-C4AAFFFA7004}"/>
              </a:ext>
            </a:extLst>
          </p:cNvPr>
          <p:cNvPicPr>
            <a:picLocks noChangeAspect="1"/>
          </p:cNvPicPr>
          <p:nvPr/>
        </p:nvPicPr>
        <p:blipFill>
          <a:blip r:embed="rId2"/>
          <a:stretch>
            <a:fillRect/>
          </a:stretch>
        </p:blipFill>
        <p:spPr>
          <a:xfrm>
            <a:off x="7472516" y="1681317"/>
            <a:ext cx="3254477" cy="3170098"/>
          </a:xfrm>
          <a:prstGeom prst="rect">
            <a:avLst/>
          </a:prstGeom>
          <a:noFill/>
          <a:ln w="9525">
            <a:noFill/>
          </a:ln>
        </p:spPr>
      </p:pic>
    </p:spTree>
    <p:extLst>
      <p:ext uri="{BB962C8B-B14F-4D97-AF65-F5344CB8AC3E}">
        <p14:creationId xmlns:p14="http://schemas.microsoft.com/office/powerpoint/2010/main" val="1195141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A5E378-08BF-FEB7-4429-CB242C6F54AC}"/>
              </a:ext>
            </a:extLst>
          </p:cNvPr>
          <p:cNvSpPr txBox="1"/>
          <p:nvPr/>
        </p:nvSpPr>
        <p:spPr>
          <a:xfrm>
            <a:off x="2635717" y="529183"/>
            <a:ext cx="6920566"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WIFI MODULE</a:t>
            </a:r>
            <a:endParaRPr lang="en-IN"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39E2149-A214-F1D2-1CF1-B9C944264CCD}"/>
              </a:ext>
            </a:extLst>
          </p:cNvPr>
          <p:cNvSpPr txBox="1"/>
          <p:nvPr/>
        </p:nvSpPr>
        <p:spPr>
          <a:xfrm>
            <a:off x="1307690" y="2133600"/>
            <a:ext cx="6046839" cy="2246769"/>
          </a:xfrm>
          <a:prstGeom prst="rect">
            <a:avLst/>
          </a:prstGeom>
          <a:noFill/>
        </p:spPr>
        <p:txBody>
          <a:bodyPr wrap="square" rtlCol="0">
            <a:spAutoFit/>
          </a:bodyPr>
          <a:lstStyle/>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Wi-Fi modules or Wi-Fi micro controllers are used to send and receive data over Wi-Fi. They can also accept commands over the Wi-Fi. </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Wi-Fi modules are used for communications between devices. They are most commonly used in the field of Internet of Things.</a:t>
            </a:r>
            <a:endParaRPr lang="en-IN" sz="2000" dirty="0">
              <a:latin typeface="Times New Roman" panose="02020603050405020304" pitchFamily="18" charset="0"/>
              <a:cs typeface="Times New Roman" panose="02020603050405020304" pitchFamily="18" charset="0"/>
            </a:endParaRPr>
          </a:p>
        </p:txBody>
      </p:sp>
      <p:pic>
        <p:nvPicPr>
          <p:cNvPr id="1026" name="Picture 2" descr="ESP-12F ESP8266 Wifi Wireless Module buy online at Low Price in India -  ElectronicsComp.com">
            <a:extLst>
              <a:ext uri="{FF2B5EF4-FFF2-40B4-BE49-F238E27FC236}">
                <a16:creationId xmlns:a16="http://schemas.microsoft.com/office/drawing/2014/main" id="{509BC649-21D3-C59B-8AE8-E0119F779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8323" y="2133600"/>
            <a:ext cx="2920180" cy="2694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307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86B203-78D4-2BD1-E91E-A33F2758A10E}"/>
              </a:ext>
            </a:extLst>
          </p:cNvPr>
          <p:cNvSpPr txBox="1"/>
          <p:nvPr/>
        </p:nvSpPr>
        <p:spPr>
          <a:xfrm>
            <a:off x="2956193" y="418641"/>
            <a:ext cx="6279614"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PROTOTYPE OF HARDWARE</a:t>
            </a:r>
          </a:p>
        </p:txBody>
      </p:sp>
      <p:pic>
        <p:nvPicPr>
          <p:cNvPr id="5" name="Picture 4">
            <a:extLst>
              <a:ext uri="{FF2B5EF4-FFF2-40B4-BE49-F238E27FC236}">
                <a16:creationId xmlns:a16="http://schemas.microsoft.com/office/drawing/2014/main" id="{EF82F7F1-22E5-2049-1F61-F253C01ABB5B}"/>
              </a:ext>
            </a:extLst>
          </p:cNvPr>
          <p:cNvPicPr>
            <a:picLocks noChangeAspect="1"/>
          </p:cNvPicPr>
          <p:nvPr/>
        </p:nvPicPr>
        <p:blipFill>
          <a:blip r:embed="rId2"/>
          <a:stretch>
            <a:fillRect/>
          </a:stretch>
        </p:blipFill>
        <p:spPr>
          <a:xfrm>
            <a:off x="1456764" y="1165412"/>
            <a:ext cx="9278471" cy="5273947"/>
          </a:xfrm>
          <a:prstGeom prst="rect">
            <a:avLst/>
          </a:prstGeom>
          <a:noFill/>
          <a:ln>
            <a:noFill/>
          </a:ln>
        </p:spPr>
      </p:pic>
    </p:spTree>
    <p:extLst>
      <p:ext uri="{BB962C8B-B14F-4D97-AF65-F5344CB8AC3E}">
        <p14:creationId xmlns:p14="http://schemas.microsoft.com/office/powerpoint/2010/main" val="3599108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79B1D6-6E57-42C7-01ED-FF9C5BADC14C}"/>
              </a:ext>
            </a:extLst>
          </p:cNvPr>
          <p:cNvSpPr txBox="1"/>
          <p:nvPr/>
        </p:nvSpPr>
        <p:spPr>
          <a:xfrm>
            <a:off x="3308732" y="661012"/>
            <a:ext cx="5574535"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ARDUINO IDE</a:t>
            </a:r>
          </a:p>
        </p:txBody>
      </p:sp>
      <p:pic>
        <p:nvPicPr>
          <p:cNvPr id="4" name="Picture 2" descr="Our Arduino IDE Tutorial Australia">
            <a:extLst>
              <a:ext uri="{FF2B5EF4-FFF2-40B4-BE49-F238E27FC236}">
                <a16:creationId xmlns:a16="http://schemas.microsoft.com/office/drawing/2014/main" id="{96055FEC-0FC5-2394-673E-E50AD439F6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867" y="1564395"/>
            <a:ext cx="5177928" cy="44287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FD664C-26CC-5FD0-77BA-C9533F610831}"/>
              </a:ext>
            </a:extLst>
          </p:cNvPr>
          <p:cNvSpPr txBox="1"/>
          <p:nvPr/>
        </p:nvSpPr>
        <p:spPr>
          <a:xfrm>
            <a:off x="528810" y="1564395"/>
            <a:ext cx="5916057" cy="4401205"/>
          </a:xfrm>
          <a:prstGeom prst="rect">
            <a:avLst/>
          </a:prstGeom>
          <a:noFill/>
        </p:spPr>
        <p:txBody>
          <a:bodyPr wrap="square" rtlCol="0">
            <a:spAutoFit/>
          </a:bodyPr>
          <a:lstStyle/>
          <a:p>
            <a:pPr marL="342900" indent="-342900" algn="just">
              <a:buFont typeface="Wingdings" panose="05000000000000000000" pitchFamily="2" charset="2"/>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Arduino Integrated Development Environment (IDE) is an open-source software designed by Arduino.cc that is used for writing, compiling, and uploading code to almost all Arduino modules. It connects to the Arduino hardware to upload programs and communicate with them.</a:t>
            </a:r>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 It supports languages like embedded C and C++ .</a:t>
            </a:r>
          </a:p>
          <a:p>
            <a:pPr marL="342900" indent="-342900" algn="just">
              <a:buFont typeface="Wingdings" panose="05000000000000000000" pitchFamily="2" charset="2"/>
              <a:buChar char="§"/>
            </a:pP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Node MCU is loaded into the Arduino IDE via a loader program in the board's firmware using the program that the Arduino IDE uses to transform the executable code into a text file in hexadecimal encoding.</a:t>
            </a:r>
          </a:p>
          <a:p>
            <a:pPr marL="342900" indent="-342900" algn="just">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3441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F249E6-34D6-1A21-ABFA-BF381CBC3EDD}"/>
              </a:ext>
            </a:extLst>
          </p:cNvPr>
          <p:cNvSpPr txBox="1"/>
          <p:nvPr/>
        </p:nvSpPr>
        <p:spPr>
          <a:xfrm>
            <a:off x="2887013" y="526542"/>
            <a:ext cx="6417974"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HARDWARE FUNCTIONALITY</a:t>
            </a:r>
          </a:p>
        </p:txBody>
      </p:sp>
      <p:sp>
        <p:nvSpPr>
          <p:cNvPr id="4" name="TextBox 3">
            <a:extLst>
              <a:ext uri="{FF2B5EF4-FFF2-40B4-BE49-F238E27FC236}">
                <a16:creationId xmlns:a16="http://schemas.microsoft.com/office/drawing/2014/main" id="{7D24C078-31AD-52EC-EC1B-202009D65485}"/>
              </a:ext>
            </a:extLst>
          </p:cNvPr>
          <p:cNvSpPr txBox="1"/>
          <p:nvPr/>
        </p:nvSpPr>
        <p:spPr>
          <a:xfrm>
            <a:off x="1353670" y="1462678"/>
            <a:ext cx="9421905" cy="4401205"/>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1. Powering Up the Hardware:</a:t>
            </a:r>
          </a:p>
          <a:p>
            <a:pPr lvl="1" algn="just"/>
            <a:r>
              <a:rPr lang="en-IN" sz="2000" dirty="0">
                <a:latin typeface="Times New Roman" panose="02020603050405020304" pitchFamily="18" charset="0"/>
                <a:cs typeface="Times New Roman" panose="02020603050405020304" pitchFamily="18" charset="0"/>
              </a:rPr>
              <a:t>   Ensure the hardware is supplied with a 5V power source to initiate its functionality.</a:t>
            </a:r>
          </a:p>
          <a:p>
            <a:pPr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2. Network Connection Establishment:</a:t>
            </a:r>
          </a:p>
          <a:p>
            <a:pPr lvl="1" algn="just"/>
            <a:r>
              <a:rPr lang="en-IN" sz="2000" dirty="0">
                <a:latin typeface="Times New Roman" panose="02020603050405020304" pitchFamily="18" charset="0"/>
                <a:cs typeface="Times New Roman" panose="02020603050405020304" pitchFamily="18" charset="0"/>
              </a:rPr>
              <a:t>   Allow the hardware sufficient time to establish a connection to the local network, ensuring seamless communication.</a:t>
            </a:r>
          </a:p>
          <a:p>
            <a:pPr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3. Retrieving IP Address from LCD Display:</a:t>
            </a:r>
          </a:p>
          <a:p>
            <a:pPr lvl="1" algn="just"/>
            <a:r>
              <a:rPr lang="en-IN" sz="2000" dirty="0">
                <a:latin typeface="Times New Roman" panose="02020603050405020304" pitchFamily="18" charset="0"/>
                <a:cs typeface="Times New Roman" panose="02020603050405020304" pitchFamily="18" charset="0"/>
              </a:rPr>
              <a:t>   Observe the IP address displayed on the LCD screen, serving as the unique identifier for the hardware within the network.</a:t>
            </a:r>
          </a:p>
          <a:p>
            <a:pPr lvl="1"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4. Accessing Output via Mobile Telnet:</a:t>
            </a:r>
          </a:p>
          <a:p>
            <a:pPr lvl="1" algn="just"/>
            <a:r>
              <a:rPr lang="en-IN" sz="2000" dirty="0">
                <a:latin typeface="Times New Roman" panose="02020603050405020304" pitchFamily="18" charset="0"/>
                <a:cs typeface="Times New Roman" panose="02020603050405020304" pitchFamily="18" charset="0"/>
              </a:rPr>
              <a:t>   Using any web browser on a device connected to the same Wi-Fi network, visit the identified IP location to observe and interact with the hardware's output.</a:t>
            </a:r>
          </a:p>
        </p:txBody>
      </p:sp>
    </p:spTree>
    <p:extLst>
      <p:ext uri="{BB962C8B-B14F-4D97-AF65-F5344CB8AC3E}">
        <p14:creationId xmlns:p14="http://schemas.microsoft.com/office/powerpoint/2010/main" val="1782537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BF2765-7B52-6D46-7CDD-019D76A02389}"/>
              </a:ext>
            </a:extLst>
          </p:cNvPr>
          <p:cNvSpPr txBox="1"/>
          <p:nvPr/>
        </p:nvSpPr>
        <p:spPr>
          <a:xfrm>
            <a:off x="3567629" y="561860"/>
            <a:ext cx="5056742"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WORK FLOW</a:t>
            </a:r>
          </a:p>
        </p:txBody>
      </p:sp>
      <p:pic>
        <p:nvPicPr>
          <p:cNvPr id="3" name="Picture 2">
            <a:extLst>
              <a:ext uri="{FF2B5EF4-FFF2-40B4-BE49-F238E27FC236}">
                <a16:creationId xmlns:a16="http://schemas.microsoft.com/office/drawing/2014/main" id="{4C6835FE-6558-E296-B198-B141CF415045}"/>
              </a:ext>
            </a:extLst>
          </p:cNvPr>
          <p:cNvPicPr>
            <a:picLocks noChangeAspect="1"/>
          </p:cNvPicPr>
          <p:nvPr/>
        </p:nvPicPr>
        <p:blipFill>
          <a:blip r:embed="rId2"/>
          <a:stretch>
            <a:fillRect/>
          </a:stretch>
        </p:blipFill>
        <p:spPr>
          <a:xfrm>
            <a:off x="3679635" y="1255923"/>
            <a:ext cx="4726236" cy="5602077"/>
          </a:xfrm>
          <a:prstGeom prst="rect">
            <a:avLst/>
          </a:prstGeom>
        </p:spPr>
      </p:pic>
    </p:spTree>
    <p:extLst>
      <p:ext uri="{BB962C8B-B14F-4D97-AF65-F5344CB8AC3E}">
        <p14:creationId xmlns:p14="http://schemas.microsoft.com/office/powerpoint/2010/main" val="260129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E366F6-1A26-09FE-8DAE-9366563DC416}"/>
              </a:ext>
            </a:extLst>
          </p:cNvPr>
          <p:cNvSpPr txBox="1"/>
          <p:nvPr/>
        </p:nvSpPr>
        <p:spPr>
          <a:xfrm>
            <a:off x="3988106" y="363557"/>
            <a:ext cx="4241494"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OUTPUT</a:t>
            </a:r>
          </a:p>
        </p:txBody>
      </p:sp>
      <p:pic>
        <p:nvPicPr>
          <p:cNvPr id="5" name="Picture 4">
            <a:extLst>
              <a:ext uri="{FF2B5EF4-FFF2-40B4-BE49-F238E27FC236}">
                <a16:creationId xmlns:a16="http://schemas.microsoft.com/office/drawing/2014/main" id="{90AF737C-0361-2B6F-C083-86FB4776E9CC}"/>
              </a:ext>
            </a:extLst>
          </p:cNvPr>
          <p:cNvPicPr>
            <a:picLocks noChangeAspect="1"/>
          </p:cNvPicPr>
          <p:nvPr/>
        </p:nvPicPr>
        <p:blipFill>
          <a:blip r:embed="rId2"/>
          <a:stretch>
            <a:fillRect/>
          </a:stretch>
        </p:blipFill>
        <p:spPr>
          <a:xfrm>
            <a:off x="1239340" y="1408690"/>
            <a:ext cx="4241494" cy="4203215"/>
          </a:xfrm>
          <a:prstGeom prst="rect">
            <a:avLst/>
          </a:prstGeom>
          <a:noFill/>
          <a:ln>
            <a:noFill/>
          </a:ln>
        </p:spPr>
      </p:pic>
      <p:sp>
        <p:nvSpPr>
          <p:cNvPr id="6" name="TextBox 5">
            <a:extLst>
              <a:ext uri="{FF2B5EF4-FFF2-40B4-BE49-F238E27FC236}">
                <a16:creationId xmlns:a16="http://schemas.microsoft.com/office/drawing/2014/main" id="{BF7338AA-CF99-618E-542D-DC1765C2B56D}"/>
              </a:ext>
            </a:extLst>
          </p:cNvPr>
          <p:cNvSpPr txBox="1"/>
          <p:nvPr/>
        </p:nvSpPr>
        <p:spPr>
          <a:xfrm>
            <a:off x="1685365" y="5997388"/>
            <a:ext cx="320936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 IOT Irrigation Display</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FB25551-1CEC-9E16-141A-09E39416EFE4}"/>
              </a:ext>
            </a:extLst>
          </p:cNvPr>
          <p:cNvPicPr>
            <a:picLocks noChangeAspect="1"/>
          </p:cNvPicPr>
          <p:nvPr/>
        </p:nvPicPr>
        <p:blipFill>
          <a:blip r:embed="rId3"/>
          <a:stretch>
            <a:fillRect/>
          </a:stretch>
        </p:blipFill>
        <p:spPr>
          <a:xfrm>
            <a:off x="6794060" y="1408690"/>
            <a:ext cx="4241494" cy="4203215"/>
          </a:xfrm>
          <a:prstGeom prst="rect">
            <a:avLst/>
          </a:prstGeom>
          <a:noFill/>
          <a:ln>
            <a:noFill/>
          </a:ln>
        </p:spPr>
      </p:pic>
      <p:sp>
        <p:nvSpPr>
          <p:cNvPr id="9" name="TextBox 8">
            <a:extLst>
              <a:ext uri="{FF2B5EF4-FFF2-40B4-BE49-F238E27FC236}">
                <a16:creationId xmlns:a16="http://schemas.microsoft.com/office/drawing/2014/main" id="{FE895649-6EDE-D67E-151E-B09D1EDBF265}"/>
              </a:ext>
            </a:extLst>
          </p:cNvPr>
          <p:cNvSpPr txBox="1"/>
          <p:nvPr/>
        </p:nvSpPr>
        <p:spPr>
          <a:xfrm>
            <a:off x="7422777" y="5997388"/>
            <a:ext cx="286870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2: Soil Moisture Sensor</a:t>
            </a:r>
          </a:p>
        </p:txBody>
      </p:sp>
    </p:spTree>
    <p:extLst>
      <p:ext uri="{BB962C8B-B14F-4D97-AF65-F5344CB8AC3E}">
        <p14:creationId xmlns:p14="http://schemas.microsoft.com/office/powerpoint/2010/main" val="3114970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388EB7-824D-CBC0-B1A0-8AE33A727150}"/>
              </a:ext>
            </a:extLst>
          </p:cNvPr>
          <p:cNvPicPr>
            <a:picLocks noChangeAspect="1"/>
          </p:cNvPicPr>
          <p:nvPr/>
        </p:nvPicPr>
        <p:blipFill>
          <a:blip r:embed="rId2"/>
          <a:stretch>
            <a:fillRect/>
          </a:stretch>
        </p:blipFill>
        <p:spPr>
          <a:xfrm>
            <a:off x="1048871" y="995082"/>
            <a:ext cx="4016188" cy="4347883"/>
          </a:xfrm>
          <a:prstGeom prst="rect">
            <a:avLst/>
          </a:prstGeom>
          <a:noFill/>
          <a:ln>
            <a:noFill/>
          </a:ln>
        </p:spPr>
      </p:pic>
      <p:sp>
        <p:nvSpPr>
          <p:cNvPr id="5" name="TextBox 4">
            <a:extLst>
              <a:ext uri="{FF2B5EF4-FFF2-40B4-BE49-F238E27FC236}">
                <a16:creationId xmlns:a16="http://schemas.microsoft.com/office/drawing/2014/main" id="{58123495-399E-ACA0-AD14-6CD74A92C369}"/>
              </a:ext>
            </a:extLst>
          </p:cNvPr>
          <p:cNvSpPr txBox="1"/>
          <p:nvPr/>
        </p:nvSpPr>
        <p:spPr>
          <a:xfrm>
            <a:off x="1178859" y="5593976"/>
            <a:ext cx="3756212"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 3: Displaying Input </a:t>
            </a:r>
            <a:r>
              <a:rPr lang="en-IN" dirty="0" err="1">
                <a:latin typeface="Times New Roman" panose="02020603050405020304" pitchFamily="18" charset="0"/>
                <a:cs typeface="Times New Roman" panose="02020603050405020304" pitchFamily="18" charset="0"/>
              </a:rPr>
              <a:t>Prameters</a:t>
            </a:r>
            <a:r>
              <a:rPr lang="en-IN" dirty="0">
                <a:latin typeface="Times New Roman" panose="02020603050405020304" pitchFamily="18" charset="0"/>
                <a:cs typeface="Times New Roman" panose="02020603050405020304" pitchFamily="18" charset="0"/>
              </a:rPr>
              <a:t> in LCD</a:t>
            </a:r>
          </a:p>
        </p:txBody>
      </p:sp>
      <p:pic>
        <p:nvPicPr>
          <p:cNvPr id="6" name="Picture 5">
            <a:extLst>
              <a:ext uri="{FF2B5EF4-FFF2-40B4-BE49-F238E27FC236}">
                <a16:creationId xmlns:a16="http://schemas.microsoft.com/office/drawing/2014/main" id="{E06FAACA-1321-282E-36B9-B9CED2EECE41}"/>
              </a:ext>
            </a:extLst>
          </p:cNvPr>
          <p:cNvPicPr>
            <a:picLocks noChangeAspect="1"/>
          </p:cNvPicPr>
          <p:nvPr/>
        </p:nvPicPr>
        <p:blipFill>
          <a:blip r:embed="rId3"/>
          <a:stretch>
            <a:fillRect/>
          </a:stretch>
        </p:blipFill>
        <p:spPr>
          <a:xfrm>
            <a:off x="6571128" y="995082"/>
            <a:ext cx="3917577" cy="4347882"/>
          </a:xfrm>
          <a:prstGeom prst="rect">
            <a:avLst/>
          </a:prstGeom>
          <a:noFill/>
          <a:ln>
            <a:noFill/>
          </a:ln>
        </p:spPr>
      </p:pic>
      <p:sp>
        <p:nvSpPr>
          <p:cNvPr id="7" name="TextBox 6">
            <a:extLst>
              <a:ext uri="{FF2B5EF4-FFF2-40B4-BE49-F238E27FC236}">
                <a16:creationId xmlns:a16="http://schemas.microsoft.com/office/drawing/2014/main" id="{C4242503-FFAD-AD24-8D84-1C6FBCDF88C7}"/>
              </a:ext>
            </a:extLst>
          </p:cNvPr>
          <p:cNvSpPr txBox="1"/>
          <p:nvPr/>
        </p:nvSpPr>
        <p:spPr>
          <a:xfrm>
            <a:off x="6947647" y="5593976"/>
            <a:ext cx="3218329"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 4: Mobile Telnet Output Results</a:t>
            </a:r>
          </a:p>
        </p:txBody>
      </p:sp>
    </p:spTree>
    <p:extLst>
      <p:ext uri="{BB962C8B-B14F-4D97-AF65-F5344CB8AC3E}">
        <p14:creationId xmlns:p14="http://schemas.microsoft.com/office/powerpoint/2010/main" val="1505879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A0EAD0-42AE-980D-C867-A138A0699A5A}"/>
              </a:ext>
            </a:extLst>
          </p:cNvPr>
          <p:cNvSpPr txBox="1"/>
          <p:nvPr/>
        </p:nvSpPr>
        <p:spPr>
          <a:xfrm>
            <a:off x="3668617" y="462708"/>
            <a:ext cx="4946573"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ADVANTAGES</a:t>
            </a:r>
          </a:p>
        </p:txBody>
      </p:sp>
      <p:sp>
        <p:nvSpPr>
          <p:cNvPr id="3" name="TextBox 2">
            <a:extLst>
              <a:ext uri="{FF2B5EF4-FFF2-40B4-BE49-F238E27FC236}">
                <a16:creationId xmlns:a16="http://schemas.microsoft.com/office/drawing/2014/main" id="{50915443-E597-788C-3780-8BCC850A14E0}"/>
              </a:ext>
            </a:extLst>
          </p:cNvPr>
          <p:cNvSpPr txBox="1"/>
          <p:nvPr/>
        </p:nvSpPr>
        <p:spPr>
          <a:xfrm>
            <a:off x="4016404" y="1782395"/>
            <a:ext cx="4858654" cy="3293209"/>
          </a:xfrm>
          <a:prstGeom prst="rect">
            <a:avLst/>
          </a:prstGeom>
          <a:noFill/>
        </p:spPr>
        <p:txBody>
          <a:bodyPr wrap="square" rtlCol="0">
            <a:spAutoFit/>
          </a:bodyPr>
          <a:lstStyle/>
          <a:p>
            <a:pPr marL="342900" lvl="0" indent="-342900" algn="just">
              <a:lnSpc>
                <a:spcPct val="115000"/>
              </a:lnSpc>
              <a:spcAft>
                <a:spcPts val="1000"/>
              </a:spcAft>
              <a:buFont typeface="Wingdings" panose="05000000000000000000" pitchFamily="2" charset="2"/>
              <a:buChar char=""/>
              <a:tabLst>
                <a:tab pos="266700"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Precision Farming</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tabLst>
                <a:tab pos="266700"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Real-Time Monitoring</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tabLst>
                <a:tab pos="266700"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Weather Forecasting Integration</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tabLst>
                <a:tab pos="266700"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Crop Monitoring and Management</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tabLst>
                <a:tab pos="266700"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Early Detection of Issues</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tabLst>
                <a:tab pos="266700"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Enhanced Sustainability</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8915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BDBC25-7428-FE75-0D38-9F86D0F0AF2B}"/>
              </a:ext>
            </a:extLst>
          </p:cNvPr>
          <p:cNvSpPr txBox="1"/>
          <p:nvPr/>
        </p:nvSpPr>
        <p:spPr>
          <a:xfrm>
            <a:off x="3688814" y="418641"/>
            <a:ext cx="4814371"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FUTURE SCOPE</a:t>
            </a:r>
          </a:p>
        </p:txBody>
      </p:sp>
      <p:sp>
        <p:nvSpPr>
          <p:cNvPr id="3" name="TextBox 2">
            <a:extLst>
              <a:ext uri="{FF2B5EF4-FFF2-40B4-BE49-F238E27FC236}">
                <a16:creationId xmlns:a16="http://schemas.microsoft.com/office/drawing/2014/main" id="{329B1858-6F9A-F093-007D-150523269B88}"/>
              </a:ext>
            </a:extLst>
          </p:cNvPr>
          <p:cNvSpPr txBox="1"/>
          <p:nvPr/>
        </p:nvSpPr>
        <p:spPr>
          <a:xfrm>
            <a:off x="968478" y="1003416"/>
            <a:ext cx="10255044" cy="5324535"/>
          </a:xfrm>
          <a:prstGeom prst="rect">
            <a:avLst/>
          </a:prstGeom>
          <a:noFill/>
        </p:spPr>
        <p:txBody>
          <a:bodyPr wrap="square" rtlCol="0">
            <a:spAutoFit/>
          </a:bodyPr>
          <a:lstStyle/>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Integration with Drones/UAVs </a:t>
            </a:r>
            <a:r>
              <a:rPr lang="en-US" sz="2000" dirty="0">
                <a:latin typeface="Times New Roman" panose="02020603050405020304" pitchFamily="18" charset="0"/>
                <a:cs typeface="Times New Roman" panose="02020603050405020304" pitchFamily="18" charset="0"/>
              </a:rPr>
              <a:t>: The system could be integrated with drone technology for aerial monitoring, precision spraying of pesticides/fertilizers, and high-resolution imagery for analysis.</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Robotics and Automation </a:t>
            </a:r>
            <a:r>
              <a:rPr lang="en-US" sz="2000" dirty="0">
                <a:latin typeface="Times New Roman" panose="02020603050405020304" pitchFamily="18" charset="0"/>
                <a:cs typeface="Times New Roman" panose="02020603050405020304" pitchFamily="18" charset="0"/>
              </a:rPr>
              <a:t>:Robotic systems could be incorporated for tasks like autonomous weed control, harvesting, pruning, and intelligent irrigation management.</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Blockchain Implementation </a:t>
            </a:r>
            <a:r>
              <a:rPr lang="en-US" sz="2000" dirty="0">
                <a:latin typeface="Times New Roman" panose="02020603050405020304" pitchFamily="18" charset="0"/>
                <a:cs typeface="Times New Roman" panose="02020603050405020304" pitchFamily="18" charset="0"/>
              </a:rPr>
              <a:t>: Blockchain technology could ensure data integrity, enable secure transactions, and support traceability in the agriculture supply chain.</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Soil Nutrient Management </a:t>
            </a:r>
            <a:r>
              <a:rPr lang="en-US" sz="2000" dirty="0">
                <a:latin typeface="Times New Roman" panose="02020603050405020304" pitchFamily="18" charset="0"/>
                <a:cs typeface="Times New Roman" panose="02020603050405020304" pitchFamily="18" charset="0"/>
              </a:rPr>
              <a:t>: Incorporating soil nutrient sensors and developing nutrient management models could optimize fertilizer application based on soil health data.</a:t>
            </a:r>
          </a:p>
          <a:p>
            <a:pPr marL="342900"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Energy Management </a:t>
            </a:r>
            <a:r>
              <a:rPr lang="en-US" sz="2000" dirty="0">
                <a:latin typeface="Times New Roman" panose="02020603050405020304" pitchFamily="18" charset="0"/>
                <a:cs typeface="Times New Roman" panose="02020603050405020304" pitchFamily="18" charset="0"/>
              </a:rPr>
              <a:t>: Integrating renewable energy sources like solar panels and implementing energy optimization techniques could make the system more self-sustainable.</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1478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2549E1-CD33-58FA-D1B1-B7FAC8AAAEE4}"/>
              </a:ext>
            </a:extLst>
          </p:cNvPr>
          <p:cNvSpPr txBox="1"/>
          <p:nvPr/>
        </p:nvSpPr>
        <p:spPr>
          <a:xfrm>
            <a:off x="3617205" y="870332"/>
            <a:ext cx="4957590"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6752933F-5C56-515D-538F-ECC16CD4D4B2}"/>
              </a:ext>
            </a:extLst>
          </p:cNvPr>
          <p:cNvSpPr txBox="1"/>
          <p:nvPr/>
        </p:nvSpPr>
        <p:spPr>
          <a:xfrm>
            <a:off x="934065" y="2038120"/>
            <a:ext cx="10314038" cy="2554545"/>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proposed IoT system revolutionizes agriculture by enabling real-time monitoring, efficient resource utilization, and data-driven decision-making. Its integration of sensors, microcontrollers, and connectivity facilitates precision farming, leading to increased productivity and sustainability. The system's ability to integrate weather forecasting and predictive analytics empowers proactive measures and early issue detection. With future integration possibilities like drones, AI, robotics, and blockchain, this system holds immense potential for autonomous and intelligent farming practices. This system represents a significant step towards modernizing agriculture while conserving resources for generations to come.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0179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324CB3-F18A-D39A-DE57-981E035D4566}"/>
              </a:ext>
            </a:extLst>
          </p:cNvPr>
          <p:cNvSpPr txBox="1"/>
          <p:nvPr/>
        </p:nvSpPr>
        <p:spPr>
          <a:xfrm>
            <a:off x="2493484" y="2598003"/>
            <a:ext cx="7205031" cy="830997"/>
          </a:xfrm>
          <a:prstGeom prst="rect">
            <a:avLst/>
          </a:prstGeom>
          <a:noFill/>
        </p:spPr>
        <p:txBody>
          <a:bodyPr wrap="square" rtlCol="0">
            <a:spAutoFit/>
          </a:bodyPr>
          <a:lstStyle/>
          <a:p>
            <a:pPr algn="ctr"/>
            <a:r>
              <a:rPr lang="en-IN" sz="4800" b="1" dirty="0">
                <a:latin typeface="Lucida Handwriting" panose="03010101010101010101" pitchFamily="66" charset="0"/>
              </a:rPr>
              <a:t>THANK YOU</a:t>
            </a:r>
          </a:p>
        </p:txBody>
      </p:sp>
    </p:spTree>
    <p:extLst>
      <p:ext uri="{BB962C8B-B14F-4D97-AF65-F5344CB8AC3E}">
        <p14:creationId xmlns:p14="http://schemas.microsoft.com/office/powerpoint/2010/main" val="1612058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1216</TotalTime>
  <Words>1484</Words>
  <Application>Microsoft Office PowerPoint</Application>
  <PresentationFormat>Widescreen</PresentationFormat>
  <Paragraphs>138</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Baskerville Old Face</vt:lpstr>
      <vt:lpstr>Calibri</vt:lpstr>
      <vt:lpstr>Calibri Light</vt:lpstr>
      <vt:lpstr>Lucida Handwriting</vt:lpstr>
      <vt:lpstr>Times New Roman</vt:lpstr>
      <vt:lpstr>Wingdings</vt:lpstr>
      <vt:lpstr>Office Theme</vt:lpstr>
      <vt:lpstr>MALLA REDDY COLLEGE OF ENGINEERING Maisammaguda, Dhullapally ,(Post Via Hakeem Pet), Secunderabad-500014  DEPARTMENT OF ELECTRONICS AND COMMUNICATION ENGINERING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MALLA REDDY COLLEGE OF ENGINEERING Maisammaguda, Dhullapally ,(Post Via Hakeem Pet), Secunderabad-500014  DEPARTMENT OF ELECTRONICS AND COMMUNICATION ENGINERING  PROJECT REPORT ON  WEATHER REPORTING SYSTEM USING IOT   2020 - 2024</dc:title>
  <dc:creator>SAI RAMYA BADUGU</dc:creator>
  <cp:lastModifiedBy>SAI RAMYA BADUGU</cp:lastModifiedBy>
  <cp:revision>49</cp:revision>
  <dcterms:created xsi:type="dcterms:W3CDTF">2023-10-16T08:20:16Z</dcterms:created>
  <dcterms:modified xsi:type="dcterms:W3CDTF">2024-05-06T11:50:08Z</dcterms:modified>
</cp:coreProperties>
</file>